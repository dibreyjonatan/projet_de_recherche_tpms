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Agrandir Narrow Bold" panose="020B0604020202020204" charset="0"/>
      <p:regular r:id="rId25"/>
    </p:embeddedFont>
    <p:embeddedFont>
      <p:font typeface="Agrandir Narrow Ultra-Bold" panose="020B0604020202020204" charset="0"/>
      <p:regular r:id="rId26"/>
    </p:embeddedFont>
    <p:embeddedFont>
      <p:font typeface="Anton" panose="020B0604020202020204" charset="0"/>
      <p:regular r:id="rId27"/>
    </p:embeddedFont>
    <p:embeddedFont>
      <p:font typeface="Bogart" panose="020B0604020202020204" charset="0"/>
      <p:regular r:id="rId28"/>
    </p:embeddedFont>
    <p:embeddedFont>
      <p:font typeface="Bogart Bold" panose="020B0604020202020204" charset="0"/>
      <p:regular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Inter" panose="020B0604020202020204" charset="0"/>
      <p:regular r:id="rId34"/>
    </p:embeddedFont>
    <p:embeddedFont>
      <p:font typeface="Inter Bold" panose="020B0604020202020204" charset="0"/>
      <p:regular r:id="rId35"/>
    </p:embeddedFont>
    <p:embeddedFont>
      <p:font typeface="Inter Medium" panose="020B0604020202020204" charset="0"/>
      <p:regular r:id="rId36"/>
    </p:embeddedFont>
    <p:embeddedFont>
      <p:font typeface="League Spartan" panose="020B0604020202020204" charset="0"/>
      <p:regular r:id="rId37"/>
    </p:embeddedFont>
    <p:embeddedFont>
      <p:font typeface="Open Sans 1" panose="020B0604020202020204" charset="0"/>
      <p:regular r:id="rId38"/>
    </p:embeddedFont>
    <p:embeddedFont>
      <p:font typeface="Open Sans 1 Bold" panose="020B0604020202020204" charset="0"/>
      <p:regular r:id="rId39"/>
    </p:embeddedFont>
    <p:embeddedFont>
      <p:font typeface="Open Sans 2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107" autoAdjust="0"/>
  </p:normalViewPr>
  <p:slideViewPr>
    <p:cSldViewPr>
      <p:cViewPr varScale="1">
        <p:scale>
          <a:sx n="42" d="100"/>
          <a:sy n="42" d="100"/>
        </p:scale>
        <p:origin x="78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28686" y="0"/>
            <a:ext cx="4030628" cy="1269441"/>
          </a:xfrm>
          <a:custGeom>
            <a:avLst/>
            <a:gdLst/>
            <a:ahLst/>
            <a:cxnLst/>
            <a:rect l="l" t="t" r="r" b="b"/>
            <a:pathLst>
              <a:path w="4030628" h="1269441">
                <a:moveTo>
                  <a:pt x="0" y="0"/>
                </a:moveTo>
                <a:lnTo>
                  <a:pt x="4030628" y="0"/>
                </a:lnTo>
                <a:lnTo>
                  <a:pt x="4030628" y="1269441"/>
                </a:lnTo>
                <a:lnTo>
                  <a:pt x="0" y="126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7" b="-583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3450916"/>
            <a:ext cx="16230600" cy="3896098"/>
            <a:chOff x="0" y="0"/>
            <a:chExt cx="21640800" cy="5194797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1640800" cy="4603800"/>
              <a:chOff x="0" y="0"/>
              <a:chExt cx="4274726" cy="90939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274726" cy="909393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909393">
                    <a:moveTo>
                      <a:pt x="11925" y="0"/>
                    </a:moveTo>
                    <a:lnTo>
                      <a:pt x="4262801" y="0"/>
                    </a:lnTo>
                    <a:cubicBezTo>
                      <a:pt x="4269387" y="0"/>
                      <a:pt x="4274726" y="5339"/>
                      <a:pt x="4274726" y="11925"/>
                    </a:cubicBezTo>
                    <a:lnTo>
                      <a:pt x="4274726" y="897468"/>
                    </a:lnTo>
                    <a:cubicBezTo>
                      <a:pt x="4274726" y="904054"/>
                      <a:pt x="4269387" y="909393"/>
                      <a:pt x="4262801" y="909393"/>
                    </a:cubicBezTo>
                    <a:lnTo>
                      <a:pt x="11925" y="909393"/>
                    </a:lnTo>
                    <a:cubicBezTo>
                      <a:pt x="5339" y="909393"/>
                      <a:pt x="0" y="904054"/>
                      <a:pt x="0" y="897468"/>
                    </a:cubicBezTo>
                    <a:lnTo>
                      <a:pt x="0" y="11925"/>
                    </a:lnTo>
                    <a:cubicBezTo>
                      <a:pt x="0" y="5339"/>
                      <a:pt x="5339" y="0"/>
                      <a:pt x="119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47625"/>
                <a:ext cx="4274726" cy="861768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5830"/>
                  </a:lnSpc>
                  <a:spcBef>
                    <a:spcPct val="0"/>
                  </a:spcBef>
                </a:pPr>
                <a:r>
                  <a:rPr lang="en-US" sz="5300">
                    <a:solidFill>
                      <a:srgbClr val="000001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TPMS (Tyres Pressure Monitoring System) : capteurs automobiles connectés pour améliorer la sécurité routière</a:t>
                </a: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3610663" y="4012804"/>
              <a:ext cx="14419475" cy="1181994"/>
              <a:chOff x="0" y="0"/>
              <a:chExt cx="2848291" cy="23348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848291" cy="233480"/>
              </a:xfrm>
              <a:custGeom>
                <a:avLst/>
                <a:gdLst/>
                <a:ahLst/>
                <a:cxnLst/>
                <a:rect l="l" t="t" r="r" b="b"/>
                <a:pathLst>
                  <a:path w="2848291" h="233480">
                    <a:moveTo>
                      <a:pt x="17897" y="0"/>
                    </a:moveTo>
                    <a:lnTo>
                      <a:pt x="2830394" y="0"/>
                    </a:lnTo>
                    <a:cubicBezTo>
                      <a:pt x="2840279" y="0"/>
                      <a:pt x="2848291" y="8013"/>
                      <a:pt x="2848291" y="17897"/>
                    </a:cubicBezTo>
                    <a:lnTo>
                      <a:pt x="2848291" y="215583"/>
                    </a:lnTo>
                    <a:cubicBezTo>
                      <a:pt x="2848291" y="225468"/>
                      <a:pt x="2840279" y="233480"/>
                      <a:pt x="2830394" y="233480"/>
                    </a:cubicBezTo>
                    <a:lnTo>
                      <a:pt x="17897" y="233480"/>
                    </a:lnTo>
                    <a:cubicBezTo>
                      <a:pt x="8013" y="233480"/>
                      <a:pt x="0" y="225468"/>
                      <a:pt x="0" y="215583"/>
                    </a:cubicBezTo>
                    <a:lnTo>
                      <a:pt x="0" y="17897"/>
                    </a:lnTo>
                    <a:cubicBezTo>
                      <a:pt x="0" y="8013"/>
                      <a:pt x="8013" y="0"/>
                      <a:pt x="17897" y="0"/>
                    </a:cubicBezTo>
                    <a:close/>
                  </a:path>
                </a:pathLst>
              </a:custGeom>
              <a:solidFill>
                <a:srgbClr val="F2C74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2848291" cy="233480"/>
              </a:xfrm>
              <a:prstGeom prst="rect">
                <a:avLst/>
              </a:prstGeom>
            </p:spPr>
            <p:txBody>
              <a:bodyPr lIns="101600" tIns="101600" rIns="101600" bIns="101600" rtlCol="0" anchor="ctr"/>
              <a:lstStyle/>
              <a:p>
                <a:pPr marL="0" lvl="0" indent="0" algn="ctr">
                  <a:lnSpc>
                    <a:spcPts val="3720"/>
                  </a:lnSpc>
                </a:pPr>
                <a:r>
                  <a:rPr lang="en-US" sz="3100" b="1">
                    <a:solidFill>
                      <a:srgbClr val="00000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TPMS</a:t>
                </a:r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4846090" y="1790172"/>
            <a:ext cx="8003002" cy="917350"/>
            <a:chOff x="0" y="0"/>
            <a:chExt cx="2107787" cy="2416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7787" cy="241607"/>
            </a:xfrm>
            <a:custGeom>
              <a:avLst/>
              <a:gdLst/>
              <a:ahLst/>
              <a:cxnLst/>
              <a:rect l="l" t="t" r="r" b="b"/>
              <a:pathLst>
                <a:path w="2107787" h="241607">
                  <a:moveTo>
                    <a:pt x="0" y="0"/>
                  </a:moveTo>
                  <a:lnTo>
                    <a:pt x="2107787" y="0"/>
                  </a:lnTo>
                  <a:lnTo>
                    <a:pt x="2107787" y="241607"/>
                  </a:lnTo>
                  <a:lnTo>
                    <a:pt x="0" y="24160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2107787" cy="2035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94"/>
                </a:lnSpc>
              </a:pPr>
              <a:r>
                <a:rPr lang="en-US" sz="3449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SOUTENANCE IRP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20990" y="8786928"/>
            <a:ext cx="7153062" cy="471372"/>
            <a:chOff x="0" y="0"/>
            <a:chExt cx="9537416" cy="62849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9525"/>
              <a:ext cx="3744987" cy="5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91"/>
                </a:lnSpc>
                <a:spcBef>
                  <a:spcPct val="0"/>
                </a:spcBef>
              </a:pPr>
              <a:r>
                <a:rPr lang="en-US" sz="290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Encadré par 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19138" y="53871"/>
              <a:ext cx="5618278" cy="5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1"/>
                </a:lnSpc>
                <a:spcBef>
                  <a:spcPct val="0"/>
                </a:spcBef>
              </a:pPr>
              <a:r>
                <a:rPr lang="en-US" sz="290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Prof LEYMARIE Hélène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13948" y="8799319"/>
            <a:ext cx="8173670" cy="1314338"/>
            <a:chOff x="0" y="0"/>
            <a:chExt cx="10898226" cy="1752451"/>
          </a:xfrm>
        </p:grpSpPr>
        <p:sp>
          <p:nvSpPr>
            <p:cNvPr id="17" name="TextBox 17"/>
            <p:cNvSpPr txBox="1"/>
            <p:nvPr/>
          </p:nvSpPr>
          <p:spPr>
            <a:xfrm>
              <a:off x="0" y="9525"/>
              <a:ext cx="2949491" cy="5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91"/>
                </a:lnSpc>
                <a:spcBef>
                  <a:spcPct val="0"/>
                </a:spcBef>
              </a:pPr>
              <a:r>
                <a:rPr lang="en-US" sz="290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Réalisé par 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21679" y="9525"/>
              <a:ext cx="7776547" cy="1742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1"/>
                </a:lnSpc>
              </a:pPr>
              <a:r>
                <a:rPr lang="en-US" sz="290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BOUANANI Nassime</a:t>
              </a:r>
            </a:p>
            <a:p>
              <a:pPr algn="l">
                <a:lnSpc>
                  <a:spcPts val="3491"/>
                </a:lnSpc>
              </a:pPr>
              <a:r>
                <a:rPr lang="en-US" sz="2909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KAMDA TEZEBO Dibrey Jonatan</a:t>
              </a:r>
            </a:p>
            <a:p>
              <a:pPr algn="l">
                <a:lnSpc>
                  <a:spcPts val="3491"/>
                </a:lnSpc>
                <a:spcBef>
                  <a:spcPct val="0"/>
                </a:spcBef>
              </a:pPr>
              <a:endParaRPr lang="en-US" sz="290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0" y="7846745"/>
            <a:ext cx="18288000" cy="457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Filière : Master 1 - SME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7264255"/>
            <a:ext cx="18288000" cy="3022745"/>
            <a:chOff x="0" y="0"/>
            <a:chExt cx="4741333" cy="8246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41333" cy="824695"/>
            </a:xfrm>
            <a:custGeom>
              <a:avLst/>
              <a:gdLst/>
              <a:ahLst/>
              <a:cxnLst/>
              <a:rect l="l" t="t" r="r" b="b"/>
              <a:pathLst>
                <a:path w="4741333" h="824695">
                  <a:moveTo>
                    <a:pt x="0" y="0"/>
                  </a:moveTo>
                  <a:lnTo>
                    <a:pt x="4741333" y="0"/>
                  </a:lnTo>
                  <a:lnTo>
                    <a:pt x="4741333" y="824695"/>
                  </a:lnTo>
                  <a:lnTo>
                    <a:pt x="0" y="824695"/>
                  </a:lnTo>
                  <a:close/>
                </a:path>
              </a:pathLst>
            </a:custGeom>
            <a:solidFill>
              <a:srgbClr val="416638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4741333" cy="786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62509" y="1051868"/>
            <a:ext cx="6162983" cy="2158146"/>
            <a:chOff x="0" y="-61913"/>
            <a:chExt cx="1115931" cy="3734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15931" cy="249582"/>
            </a:xfrm>
            <a:custGeom>
              <a:avLst/>
              <a:gdLst/>
              <a:ahLst/>
              <a:cxnLst/>
              <a:rect l="l" t="t" r="r" b="b"/>
              <a:pathLst>
                <a:path w="1115931" h="249582">
                  <a:moveTo>
                    <a:pt x="31405" y="0"/>
                  </a:moveTo>
                  <a:lnTo>
                    <a:pt x="1084526" y="0"/>
                  </a:lnTo>
                  <a:cubicBezTo>
                    <a:pt x="1092855" y="0"/>
                    <a:pt x="1100843" y="3309"/>
                    <a:pt x="1106733" y="9198"/>
                  </a:cubicBezTo>
                  <a:cubicBezTo>
                    <a:pt x="1112622" y="15088"/>
                    <a:pt x="1115931" y="23076"/>
                    <a:pt x="1115931" y="31405"/>
                  </a:cubicBezTo>
                  <a:lnTo>
                    <a:pt x="1115931" y="218177"/>
                  </a:lnTo>
                  <a:cubicBezTo>
                    <a:pt x="1115931" y="226506"/>
                    <a:pt x="1112622" y="234494"/>
                    <a:pt x="1106733" y="240383"/>
                  </a:cubicBezTo>
                  <a:cubicBezTo>
                    <a:pt x="1100843" y="246273"/>
                    <a:pt x="1092855" y="249582"/>
                    <a:pt x="1084526" y="249582"/>
                  </a:cubicBezTo>
                  <a:lnTo>
                    <a:pt x="31405" y="249582"/>
                  </a:lnTo>
                  <a:cubicBezTo>
                    <a:pt x="23076" y="249582"/>
                    <a:pt x="15088" y="246273"/>
                    <a:pt x="9198" y="240383"/>
                  </a:cubicBezTo>
                  <a:cubicBezTo>
                    <a:pt x="3309" y="234494"/>
                    <a:pt x="0" y="226506"/>
                    <a:pt x="0" y="218177"/>
                  </a:cubicBezTo>
                  <a:lnTo>
                    <a:pt x="0" y="31405"/>
                  </a:lnTo>
                  <a:cubicBezTo>
                    <a:pt x="0" y="23076"/>
                    <a:pt x="3309" y="15088"/>
                    <a:pt x="9198" y="9198"/>
                  </a:cubicBezTo>
                  <a:cubicBezTo>
                    <a:pt x="15088" y="3309"/>
                    <a:pt x="23076" y="0"/>
                    <a:pt x="31405" y="0"/>
                  </a:cubicBezTo>
                  <a:close/>
                </a:path>
              </a:pathLst>
            </a:custGeom>
            <a:solidFill>
              <a:srgbClr val="F2C74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1913"/>
              <a:ext cx="1115931" cy="373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6600"/>
                </a:lnSpc>
              </a:pPr>
              <a:r>
                <a:rPr lang="en-US" sz="6000" b="1" dirty="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PLAN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19670" y="3439859"/>
            <a:ext cx="11787665" cy="5940305"/>
            <a:chOff x="0" y="0"/>
            <a:chExt cx="15716886" cy="79204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16886" cy="4972309"/>
            </a:xfrm>
            <a:custGeom>
              <a:avLst/>
              <a:gdLst/>
              <a:ahLst/>
              <a:cxnLst/>
              <a:rect l="l" t="t" r="r" b="b"/>
              <a:pathLst>
                <a:path w="15716886" h="4972309">
                  <a:moveTo>
                    <a:pt x="0" y="0"/>
                  </a:moveTo>
                  <a:lnTo>
                    <a:pt x="15716886" y="0"/>
                  </a:lnTo>
                  <a:lnTo>
                    <a:pt x="15716886" y="4972309"/>
                  </a:lnTo>
                  <a:lnTo>
                    <a:pt x="0" y="4972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217" t="-49040" r="-1992" b="-29656"/>
              </a:stretch>
            </a:blipFill>
            <a:ln cap="rnd">
              <a:noFill/>
              <a:prstDash val="solid"/>
              <a:round/>
            </a:ln>
          </p:spPr>
        </p:sp>
        <p:sp>
          <p:nvSpPr>
            <p:cNvPr id="10" name="Freeform 10"/>
            <p:cNvSpPr/>
            <p:nvPr/>
          </p:nvSpPr>
          <p:spPr>
            <a:xfrm>
              <a:off x="0" y="2948098"/>
              <a:ext cx="15716886" cy="4972309"/>
            </a:xfrm>
            <a:custGeom>
              <a:avLst/>
              <a:gdLst/>
              <a:ahLst/>
              <a:cxnLst/>
              <a:rect l="l" t="t" r="r" b="b"/>
              <a:pathLst>
                <a:path w="15716886" h="4972309">
                  <a:moveTo>
                    <a:pt x="0" y="0"/>
                  </a:moveTo>
                  <a:lnTo>
                    <a:pt x="15716886" y="0"/>
                  </a:lnTo>
                  <a:lnTo>
                    <a:pt x="15716886" y="4972309"/>
                  </a:lnTo>
                  <a:lnTo>
                    <a:pt x="0" y="4972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217" t="-49040" r="-1992" b="-2965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3747868" y="4250862"/>
            <a:ext cx="11131269" cy="439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99"/>
              </a:lnSpc>
            </a:pPr>
            <a:r>
              <a:rPr lang="en-US" sz="3899" b="1" dirty="0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1- </a:t>
            </a:r>
            <a:r>
              <a:rPr lang="en-US" sz="3899" dirty="0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Introduction et </a:t>
            </a:r>
            <a:r>
              <a:rPr lang="en-US" sz="3899" dirty="0" err="1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Contexte</a:t>
            </a:r>
            <a:r>
              <a:rPr lang="en-US" sz="3899" dirty="0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 du </a:t>
            </a:r>
            <a:r>
              <a:rPr lang="en-US" sz="3899" dirty="0" err="1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Projet</a:t>
            </a:r>
            <a:endParaRPr lang="en-US" sz="3899" dirty="0">
              <a:solidFill>
                <a:srgbClr val="000000"/>
              </a:solidFill>
              <a:latin typeface="Bogart"/>
              <a:ea typeface="Bogart"/>
              <a:cs typeface="Bogart"/>
              <a:sym typeface="Bogart"/>
            </a:endParaRPr>
          </a:p>
          <a:p>
            <a:pPr algn="just">
              <a:lnSpc>
                <a:spcPts val="3899"/>
              </a:lnSpc>
              <a:spcBef>
                <a:spcPct val="0"/>
              </a:spcBef>
            </a:pPr>
            <a:endParaRPr lang="en-US" sz="3899" dirty="0">
              <a:solidFill>
                <a:srgbClr val="000000"/>
              </a:solidFill>
              <a:latin typeface="Bogart"/>
              <a:ea typeface="Bogart"/>
              <a:cs typeface="Bogart"/>
              <a:sym typeface="Bogart"/>
            </a:endParaRPr>
          </a:p>
          <a:p>
            <a:pPr algn="just">
              <a:lnSpc>
                <a:spcPts val="3899"/>
              </a:lnSpc>
              <a:spcBef>
                <a:spcPct val="0"/>
              </a:spcBef>
            </a:pPr>
            <a:r>
              <a:rPr lang="en-US" sz="3899" b="1" dirty="0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2- </a:t>
            </a:r>
            <a:r>
              <a:rPr lang="en-US" sz="3899" dirty="0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Etude de </a:t>
            </a:r>
            <a:r>
              <a:rPr lang="en-US" sz="3899" dirty="0" err="1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l’émetteur</a:t>
            </a:r>
            <a:r>
              <a:rPr lang="en-US" sz="3899" dirty="0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 et du </a:t>
            </a:r>
            <a:r>
              <a:rPr lang="en-US" sz="3899" dirty="0" err="1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récepteur</a:t>
            </a:r>
            <a:r>
              <a:rPr lang="en-US" sz="3899" dirty="0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 du TPMS</a:t>
            </a:r>
          </a:p>
          <a:p>
            <a:pPr algn="just">
              <a:lnSpc>
                <a:spcPts val="3899"/>
              </a:lnSpc>
              <a:spcBef>
                <a:spcPct val="0"/>
              </a:spcBef>
            </a:pPr>
            <a:endParaRPr lang="en-US" sz="3899" dirty="0">
              <a:solidFill>
                <a:srgbClr val="000000"/>
              </a:solidFill>
              <a:latin typeface="Bogart"/>
              <a:ea typeface="Bogart"/>
              <a:cs typeface="Bogart"/>
              <a:sym typeface="Bogart"/>
            </a:endParaRPr>
          </a:p>
          <a:p>
            <a:pPr algn="just">
              <a:lnSpc>
                <a:spcPts val="3899"/>
              </a:lnSpc>
              <a:spcBef>
                <a:spcPct val="0"/>
              </a:spcBef>
            </a:pPr>
            <a:r>
              <a:rPr lang="en-US" sz="3899" b="1" dirty="0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3-</a:t>
            </a:r>
            <a:r>
              <a:rPr lang="en-US" sz="3899" dirty="0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 Calibration</a:t>
            </a:r>
          </a:p>
          <a:p>
            <a:pPr algn="just">
              <a:lnSpc>
                <a:spcPts val="3899"/>
              </a:lnSpc>
              <a:spcBef>
                <a:spcPct val="0"/>
              </a:spcBef>
            </a:pPr>
            <a:endParaRPr lang="en-US" sz="3899" dirty="0">
              <a:solidFill>
                <a:srgbClr val="000000"/>
              </a:solidFill>
              <a:latin typeface="Bogart"/>
              <a:ea typeface="Bogart"/>
              <a:cs typeface="Bogart"/>
              <a:sym typeface="Bogart"/>
            </a:endParaRPr>
          </a:p>
          <a:p>
            <a:pPr algn="just">
              <a:lnSpc>
                <a:spcPts val="3899"/>
              </a:lnSpc>
              <a:spcBef>
                <a:spcPct val="0"/>
              </a:spcBef>
            </a:pPr>
            <a:r>
              <a:rPr lang="en-US" sz="3899" b="1" dirty="0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4</a:t>
            </a:r>
            <a:r>
              <a:rPr lang="en-US" sz="3899" dirty="0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- </a:t>
            </a:r>
            <a:r>
              <a:rPr lang="en-US" sz="3899" dirty="0" err="1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Résultats</a:t>
            </a:r>
            <a:endParaRPr lang="en-US" sz="3899" dirty="0">
              <a:solidFill>
                <a:srgbClr val="000000"/>
              </a:solidFill>
              <a:latin typeface="Bogart"/>
              <a:ea typeface="Bogart"/>
              <a:cs typeface="Bogart"/>
              <a:sym typeface="Bogart"/>
            </a:endParaRPr>
          </a:p>
          <a:p>
            <a:pPr algn="just">
              <a:lnSpc>
                <a:spcPts val="3899"/>
              </a:lnSpc>
              <a:spcBef>
                <a:spcPct val="0"/>
              </a:spcBef>
            </a:pPr>
            <a:endParaRPr lang="en-US" sz="3899" dirty="0">
              <a:solidFill>
                <a:srgbClr val="000000"/>
              </a:solidFill>
              <a:latin typeface="Bogart"/>
              <a:ea typeface="Bogart"/>
              <a:cs typeface="Bogart"/>
              <a:sym typeface="Bogart"/>
            </a:endParaRPr>
          </a:p>
          <a:p>
            <a:pPr algn="just">
              <a:lnSpc>
                <a:spcPts val="3899"/>
              </a:lnSpc>
              <a:spcBef>
                <a:spcPct val="0"/>
              </a:spcBef>
            </a:pPr>
            <a:r>
              <a:rPr lang="en-US" sz="3899" b="1" dirty="0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5</a:t>
            </a:r>
            <a:r>
              <a:rPr lang="en-US" sz="3899" dirty="0">
                <a:solidFill>
                  <a:srgbClr val="000000"/>
                </a:solidFill>
                <a:latin typeface="Bogart"/>
                <a:ea typeface="Bogart"/>
                <a:cs typeface="Bogart"/>
                <a:sym typeface="Bogart"/>
              </a:rPr>
              <a:t>- Conclusion et Perspectives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01791">
            <a:off x="-3426470" y="8702364"/>
            <a:ext cx="6148601" cy="1111872"/>
          </a:xfrm>
          <a:custGeom>
            <a:avLst/>
            <a:gdLst/>
            <a:ahLst/>
            <a:cxnLst/>
            <a:rect l="l" t="t" r="r" b="b"/>
            <a:pathLst>
              <a:path w="6148601" h="1111872">
                <a:moveTo>
                  <a:pt x="0" y="0"/>
                </a:moveTo>
                <a:lnTo>
                  <a:pt x="6148602" y="0"/>
                </a:lnTo>
                <a:lnTo>
                  <a:pt x="6148602" y="1111872"/>
                </a:lnTo>
                <a:lnTo>
                  <a:pt x="0" y="111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22020" y="2832800"/>
            <a:ext cx="14243960" cy="4621399"/>
            <a:chOff x="0" y="0"/>
            <a:chExt cx="3820968" cy="12396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20968" cy="1239699"/>
            </a:xfrm>
            <a:custGeom>
              <a:avLst/>
              <a:gdLst/>
              <a:ahLst/>
              <a:cxnLst/>
              <a:rect l="l" t="t" r="r" b="b"/>
              <a:pathLst>
                <a:path w="3820968" h="1239699">
                  <a:moveTo>
                    <a:pt x="13588" y="0"/>
                  </a:moveTo>
                  <a:lnTo>
                    <a:pt x="3807380" y="0"/>
                  </a:lnTo>
                  <a:cubicBezTo>
                    <a:pt x="3814884" y="0"/>
                    <a:pt x="3820968" y="6084"/>
                    <a:pt x="3820968" y="13588"/>
                  </a:cubicBezTo>
                  <a:lnTo>
                    <a:pt x="3820968" y="1226111"/>
                  </a:lnTo>
                  <a:cubicBezTo>
                    <a:pt x="3820968" y="1233615"/>
                    <a:pt x="3814884" y="1239699"/>
                    <a:pt x="3807380" y="1239699"/>
                  </a:cubicBezTo>
                  <a:lnTo>
                    <a:pt x="13588" y="1239699"/>
                  </a:lnTo>
                  <a:cubicBezTo>
                    <a:pt x="6084" y="1239699"/>
                    <a:pt x="0" y="1233615"/>
                    <a:pt x="0" y="1226111"/>
                  </a:cubicBezTo>
                  <a:lnTo>
                    <a:pt x="0" y="13588"/>
                  </a:lnTo>
                  <a:cubicBezTo>
                    <a:pt x="0" y="6084"/>
                    <a:pt x="6084" y="0"/>
                    <a:pt x="1358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820968" cy="1258749"/>
            </a:xfrm>
            <a:prstGeom prst="rect">
              <a:avLst/>
            </a:prstGeom>
          </p:spPr>
          <p:txBody>
            <a:bodyPr lIns="381000" tIns="381000" rIns="381000" bIns="381000" rtlCol="0" anchor="ctr"/>
            <a:lstStyle/>
            <a:p>
              <a:pPr marL="669288" lvl="1" indent="-334644" algn="just">
                <a:lnSpc>
                  <a:spcPts val="4029"/>
                </a:lnSpc>
                <a:buFont typeface="Arial"/>
                <a:buChar char="•"/>
              </a:pPr>
              <a:r>
                <a:rPr lang="en-US" sz="3099">
                  <a:solidFill>
                    <a:srgbClr val="000001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Comprendre le fonctionnement des capteurs FXTH87 et TDA5235 </a:t>
              </a:r>
            </a:p>
            <a:p>
              <a:pPr algn="just">
                <a:lnSpc>
                  <a:spcPts val="4029"/>
                </a:lnSpc>
              </a:pPr>
              <a:endParaRPr lang="en-US" sz="3099">
                <a:solidFill>
                  <a:srgbClr val="000001"/>
                </a:solidFill>
                <a:latin typeface="Open Sans 2"/>
                <a:ea typeface="Open Sans 2"/>
                <a:cs typeface="Open Sans 2"/>
                <a:sym typeface="Open Sans 2"/>
              </a:endParaRPr>
            </a:p>
            <a:p>
              <a:pPr marL="669288" lvl="1" indent="-334644" algn="just">
                <a:lnSpc>
                  <a:spcPts val="4029"/>
                </a:lnSpc>
                <a:buFont typeface="Arial"/>
                <a:buChar char="•"/>
              </a:pPr>
              <a:r>
                <a:rPr lang="en-US" sz="3099">
                  <a:solidFill>
                    <a:srgbClr val="000001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Évaluer l'efficacité et la fiabilité des TPMS dans des conditions réelles</a:t>
              </a:r>
            </a:p>
            <a:p>
              <a:pPr algn="just">
                <a:lnSpc>
                  <a:spcPts val="4029"/>
                </a:lnSpc>
              </a:pPr>
              <a:endParaRPr lang="en-US" sz="3099">
                <a:solidFill>
                  <a:srgbClr val="000001"/>
                </a:solidFill>
                <a:latin typeface="Open Sans 2"/>
                <a:ea typeface="Open Sans 2"/>
                <a:cs typeface="Open Sans 2"/>
                <a:sym typeface="Open Sans 2"/>
              </a:endParaRPr>
            </a:p>
            <a:p>
              <a:pPr marL="669288" lvl="1" indent="-334644" algn="just">
                <a:lnSpc>
                  <a:spcPts val="4029"/>
                </a:lnSpc>
                <a:buFont typeface="Arial"/>
                <a:buChar char="•"/>
              </a:pPr>
              <a:r>
                <a:rPr lang="en-US" sz="3099">
                  <a:solidFill>
                    <a:srgbClr val="000001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Envisager une exploitation pédagogique pour des étudiants de master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2146842" flipH="1">
            <a:off x="14416686" y="-56448"/>
            <a:ext cx="6148601" cy="1111872"/>
          </a:xfrm>
          <a:custGeom>
            <a:avLst/>
            <a:gdLst/>
            <a:ahLst/>
            <a:cxnLst/>
            <a:rect l="l" t="t" r="r" b="b"/>
            <a:pathLst>
              <a:path w="6148601" h="1111872">
                <a:moveTo>
                  <a:pt x="6148601" y="0"/>
                </a:moveTo>
                <a:lnTo>
                  <a:pt x="0" y="0"/>
                </a:lnTo>
                <a:lnTo>
                  <a:pt x="0" y="1111872"/>
                </a:lnTo>
                <a:lnTo>
                  <a:pt x="6148601" y="1111872"/>
                </a:lnTo>
                <a:lnTo>
                  <a:pt x="614860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10861" y="933450"/>
            <a:ext cx="12066277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Objectifs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709720" y="9607159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01791">
            <a:off x="-3426470" y="8702364"/>
            <a:ext cx="6148601" cy="1111872"/>
          </a:xfrm>
          <a:custGeom>
            <a:avLst/>
            <a:gdLst/>
            <a:ahLst/>
            <a:cxnLst/>
            <a:rect l="l" t="t" r="r" b="b"/>
            <a:pathLst>
              <a:path w="6148601" h="1111872">
                <a:moveTo>
                  <a:pt x="0" y="0"/>
                </a:moveTo>
                <a:lnTo>
                  <a:pt x="6148602" y="0"/>
                </a:lnTo>
                <a:lnTo>
                  <a:pt x="6148602" y="1111872"/>
                </a:lnTo>
                <a:lnTo>
                  <a:pt x="0" y="111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146842" flipH="1">
            <a:off x="14416686" y="-56448"/>
            <a:ext cx="6148601" cy="1111872"/>
          </a:xfrm>
          <a:custGeom>
            <a:avLst/>
            <a:gdLst/>
            <a:ahLst/>
            <a:cxnLst/>
            <a:rect l="l" t="t" r="r" b="b"/>
            <a:pathLst>
              <a:path w="6148601" h="1111872">
                <a:moveTo>
                  <a:pt x="6148601" y="0"/>
                </a:moveTo>
                <a:lnTo>
                  <a:pt x="0" y="0"/>
                </a:lnTo>
                <a:lnTo>
                  <a:pt x="0" y="1111872"/>
                </a:lnTo>
                <a:lnTo>
                  <a:pt x="6148601" y="1111872"/>
                </a:lnTo>
                <a:lnTo>
                  <a:pt x="614860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10861" y="4668800"/>
            <a:ext cx="12066277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1- Introduction et Contexte du Projet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09720" y="9607159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92" y="2350948"/>
            <a:ext cx="18275008" cy="6225229"/>
            <a:chOff x="0" y="0"/>
            <a:chExt cx="24366678" cy="8300305"/>
          </a:xfrm>
        </p:grpSpPr>
        <p:grpSp>
          <p:nvGrpSpPr>
            <p:cNvPr id="3" name="Group 3"/>
            <p:cNvGrpSpPr/>
            <p:nvPr/>
          </p:nvGrpSpPr>
          <p:grpSpPr>
            <a:xfrm>
              <a:off x="368198" y="0"/>
              <a:ext cx="2694778" cy="2694778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sz="1900" b="1">
                    <a:solidFill>
                      <a:srgbClr val="000001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1980s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441692" y="0"/>
              <a:ext cx="2694778" cy="2694778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sz="1900" b="1">
                    <a:solidFill>
                      <a:srgbClr val="000000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1990s</a:t>
                </a:r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2679913" y="2093635"/>
              <a:ext cx="2127939" cy="601143"/>
            </a:xfrm>
            <a:custGeom>
              <a:avLst/>
              <a:gdLst/>
              <a:ahLst/>
              <a:cxnLst/>
              <a:rect l="l" t="t" r="r" b="b"/>
              <a:pathLst>
                <a:path w="2127939" h="601143">
                  <a:moveTo>
                    <a:pt x="0" y="0"/>
                  </a:moveTo>
                  <a:lnTo>
                    <a:pt x="2127939" y="0"/>
                  </a:lnTo>
                  <a:lnTo>
                    <a:pt x="2127939" y="601143"/>
                  </a:lnTo>
                  <a:lnTo>
                    <a:pt x="0" y="601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8651912" y="0"/>
              <a:ext cx="2694778" cy="2694778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sz="1900" b="1">
                    <a:solidFill>
                      <a:srgbClr val="000000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2000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6890133" y="2093635"/>
              <a:ext cx="2127939" cy="601143"/>
            </a:xfrm>
            <a:custGeom>
              <a:avLst/>
              <a:gdLst/>
              <a:ahLst/>
              <a:cxnLst/>
              <a:rect l="l" t="t" r="r" b="b"/>
              <a:pathLst>
                <a:path w="2127939" h="601143">
                  <a:moveTo>
                    <a:pt x="0" y="0"/>
                  </a:moveTo>
                  <a:lnTo>
                    <a:pt x="2127938" y="0"/>
                  </a:lnTo>
                  <a:lnTo>
                    <a:pt x="2127938" y="601143"/>
                  </a:lnTo>
                  <a:lnTo>
                    <a:pt x="0" y="601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4" name="Group 14"/>
            <p:cNvGrpSpPr/>
            <p:nvPr/>
          </p:nvGrpSpPr>
          <p:grpSpPr>
            <a:xfrm>
              <a:off x="12864036" y="0"/>
              <a:ext cx="2694778" cy="2694778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sz="1900" b="1">
                    <a:solidFill>
                      <a:srgbClr val="000000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2007</a:t>
                </a:r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11102257" y="2093635"/>
              <a:ext cx="2127939" cy="601143"/>
            </a:xfrm>
            <a:custGeom>
              <a:avLst/>
              <a:gdLst/>
              <a:ahLst/>
              <a:cxnLst/>
              <a:rect l="l" t="t" r="r" b="b"/>
              <a:pathLst>
                <a:path w="2127939" h="601143">
                  <a:moveTo>
                    <a:pt x="0" y="0"/>
                  </a:moveTo>
                  <a:lnTo>
                    <a:pt x="2127939" y="0"/>
                  </a:lnTo>
                  <a:lnTo>
                    <a:pt x="2127939" y="601143"/>
                  </a:lnTo>
                  <a:lnTo>
                    <a:pt x="0" y="601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17074256" y="0"/>
              <a:ext cx="2694778" cy="2694778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sz="1900" b="1">
                    <a:solidFill>
                      <a:srgbClr val="000000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2012-2014</a:t>
                </a: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5312477" y="2093635"/>
              <a:ext cx="2127939" cy="601143"/>
            </a:xfrm>
            <a:custGeom>
              <a:avLst/>
              <a:gdLst/>
              <a:ahLst/>
              <a:cxnLst/>
              <a:rect l="l" t="t" r="r" b="b"/>
              <a:pathLst>
                <a:path w="2127939" h="601143">
                  <a:moveTo>
                    <a:pt x="0" y="0"/>
                  </a:moveTo>
                  <a:lnTo>
                    <a:pt x="2127938" y="0"/>
                  </a:lnTo>
                  <a:lnTo>
                    <a:pt x="2127938" y="601143"/>
                  </a:lnTo>
                  <a:lnTo>
                    <a:pt x="0" y="601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21286380" y="0"/>
              <a:ext cx="2694778" cy="2694778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sz="1900" b="1">
                    <a:solidFill>
                      <a:srgbClr val="000000"/>
                    </a:solidFill>
                    <a:latin typeface="Open Sans 1 Bold"/>
                    <a:ea typeface="Open Sans 1 Bold"/>
                    <a:cs typeface="Open Sans 1 Bold"/>
                    <a:sym typeface="Open Sans 1 Bold"/>
                  </a:rPr>
                  <a:t>Aujourd’hui</a:t>
                </a: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9524601" y="2093635"/>
              <a:ext cx="2127939" cy="601143"/>
            </a:xfrm>
            <a:custGeom>
              <a:avLst/>
              <a:gdLst/>
              <a:ahLst/>
              <a:cxnLst/>
              <a:rect l="l" t="t" r="r" b="b"/>
              <a:pathLst>
                <a:path w="2127939" h="601143">
                  <a:moveTo>
                    <a:pt x="0" y="0"/>
                  </a:moveTo>
                  <a:lnTo>
                    <a:pt x="2127939" y="0"/>
                  </a:lnTo>
                  <a:lnTo>
                    <a:pt x="2127939" y="601143"/>
                  </a:lnTo>
                  <a:lnTo>
                    <a:pt x="0" y="601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6" name="Group 26"/>
            <p:cNvGrpSpPr/>
            <p:nvPr/>
          </p:nvGrpSpPr>
          <p:grpSpPr>
            <a:xfrm rot="-5400000">
              <a:off x="881501" y="3205654"/>
              <a:ext cx="1490727" cy="468975"/>
              <a:chOff x="0" y="0"/>
              <a:chExt cx="2265586" cy="71274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265586" cy="712741"/>
              </a:xfrm>
              <a:custGeom>
                <a:avLst/>
                <a:gdLst/>
                <a:ahLst/>
                <a:cxnLst/>
                <a:rect l="l" t="t" r="r" b="b"/>
                <a:pathLst>
                  <a:path w="2265586" h="712741">
                    <a:moveTo>
                      <a:pt x="239386" y="167582"/>
                    </a:moveTo>
                    <a:lnTo>
                      <a:pt x="2265586" y="167582"/>
                    </a:lnTo>
                    <a:lnTo>
                      <a:pt x="2265586" y="545086"/>
                    </a:lnTo>
                    <a:lnTo>
                      <a:pt x="239373" y="545086"/>
                    </a:lnTo>
                    <a:lnTo>
                      <a:pt x="302255" y="712741"/>
                    </a:lnTo>
                    <a:lnTo>
                      <a:pt x="0" y="356371"/>
                    </a:lnTo>
                    <a:lnTo>
                      <a:pt x="302255" y="0"/>
                    </a:lnTo>
                    <a:lnTo>
                      <a:pt x="239386" y="167582"/>
                    </a:lnTo>
                    <a:close/>
                  </a:path>
                </a:pathLst>
              </a:custGeom>
              <a:solidFill>
                <a:srgbClr val="DB2802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0650" y="117475"/>
                <a:ext cx="2144936" cy="430166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4185505"/>
              <a:ext cx="3253730" cy="4114800"/>
              <a:chOff x="0" y="0"/>
              <a:chExt cx="642712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4271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42712" h="812800">
                    <a:moveTo>
                      <a:pt x="0" y="0"/>
                    </a:moveTo>
                    <a:lnTo>
                      <a:pt x="642712" y="0"/>
                    </a:lnTo>
                    <a:lnTo>
                      <a:pt x="64271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ln w="28575" cap="sq">
                <a:solidFill>
                  <a:srgbClr val="DB2802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642712" cy="860425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r>
                  <a:rPr lang="en-US" sz="2014">
                    <a:solidFill>
                      <a:srgbClr val="FEFEFE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Première intégration sur PORSHE 959 (1986)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-5400000">
              <a:off x="5139943" y="3205654"/>
              <a:ext cx="1490727" cy="468975"/>
              <a:chOff x="0" y="0"/>
              <a:chExt cx="2265586" cy="71274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265586" cy="712741"/>
              </a:xfrm>
              <a:custGeom>
                <a:avLst/>
                <a:gdLst/>
                <a:ahLst/>
                <a:cxnLst/>
                <a:rect l="l" t="t" r="r" b="b"/>
                <a:pathLst>
                  <a:path w="2265586" h="712741">
                    <a:moveTo>
                      <a:pt x="239386" y="167582"/>
                    </a:moveTo>
                    <a:lnTo>
                      <a:pt x="2265586" y="167582"/>
                    </a:lnTo>
                    <a:lnTo>
                      <a:pt x="2265586" y="545086"/>
                    </a:lnTo>
                    <a:lnTo>
                      <a:pt x="239373" y="545086"/>
                    </a:lnTo>
                    <a:lnTo>
                      <a:pt x="302255" y="712741"/>
                    </a:lnTo>
                    <a:lnTo>
                      <a:pt x="0" y="356371"/>
                    </a:lnTo>
                    <a:lnTo>
                      <a:pt x="302255" y="0"/>
                    </a:lnTo>
                    <a:lnTo>
                      <a:pt x="239386" y="167582"/>
                    </a:lnTo>
                    <a:close/>
                  </a:path>
                </a:pathLst>
              </a:custGeom>
              <a:solidFill>
                <a:srgbClr val="DB2802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0650" y="117475"/>
                <a:ext cx="2144936" cy="430166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58441" y="4185505"/>
              <a:ext cx="3253730" cy="4114800"/>
              <a:chOff x="0" y="0"/>
              <a:chExt cx="642712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4271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42712" h="812800">
                    <a:moveTo>
                      <a:pt x="0" y="0"/>
                    </a:moveTo>
                    <a:lnTo>
                      <a:pt x="642712" y="0"/>
                    </a:lnTo>
                    <a:lnTo>
                      <a:pt x="64271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ln w="28575" cap="sq">
                <a:solidFill>
                  <a:srgbClr val="DB2802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642712" cy="860425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r>
                  <a:rPr lang="en-US" sz="2014">
                    <a:solidFill>
                      <a:srgbClr val="FEFEFE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Adoption par marque premium : BMW, AUDI et MERCEDES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-5400000">
              <a:off x="9331625" y="3205654"/>
              <a:ext cx="1490727" cy="468975"/>
              <a:chOff x="0" y="0"/>
              <a:chExt cx="2265586" cy="71274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2265586" cy="712741"/>
              </a:xfrm>
              <a:custGeom>
                <a:avLst/>
                <a:gdLst/>
                <a:ahLst/>
                <a:cxnLst/>
                <a:rect l="l" t="t" r="r" b="b"/>
                <a:pathLst>
                  <a:path w="2265586" h="712741">
                    <a:moveTo>
                      <a:pt x="239386" y="167582"/>
                    </a:moveTo>
                    <a:lnTo>
                      <a:pt x="2265586" y="167582"/>
                    </a:lnTo>
                    <a:lnTo>
                      <a:pt x="2265586" y="545086"/>
                    </a:lnTo>
                    <a:lnTo>
                      <a:pt x="239373" y="545086"/>
                    </a:lnTo>
                    <a:lnTo>
                      <a:pt x="302255" y="712741"/>
                    </a:lnTo>
                    <a:lnTo>
                      <a:pt x="0" y="356371"/>
                    </a:lnTo>
                    <a:lnTo>
                      <a:pt x="302255" y="0"/>
                    </a:lnTo>
                    <a:lnTo>
                      <a:pt x="239386" y="167582"/>
                    </a:lnTo>
                    <a:close/>
                  </a:path>
                </a:pathLst>
              </a:custGeom>
              <a:solidFill>
                <a:srgbClr val="DB2802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20650" y="117475"/>
                <a:ext cx="2144936" cy="430166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450124" y="4185505"/>
              <a:ext cx="3253730" cy="4114800"/>
              <a:chOff x="0" y="0"/>
              <a:chExt cx="642712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4271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42712" h="812800">
                    <a:moveTo>
                      <a:pt x="0" y="0"/>
                    </a:moveTo>
                    <a:lnTo>
                      <a:pt x="642712" y="0"/>
                    </a:lnTo>
                    <a:lnTo>
                      <a:pt x="64271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ln w="28575" cap="sq">
                <a:solidFill>
                  <a:srgbClr val="DB2802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642712" cy="860425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r>
                  <a:rPr lang="en-US" sz="2014">
                    <a:solidFill>
                      <a:srgbClr val="FEFEFE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Rappel massif de pneus aux USA</a:t>
                </a:r>
              </a:p>
              <a:p>
                <a:pPr algn="ctr">
                  <a:lnSpc>
                    <a:spcPts val="1399"/>
                  </a:lnSpc>
                </a:pPr>
                <a:endParaRPr lang="en-US" sz="2014">
                  <a:solidFill>
                    <a:srgbClr val="FEFEFE"/>
                  </a:solidFill>
                  <a:latin typeface="Open Sans 1"/>
                  <a:ea typeface="Open Sans 1"/>
                  <a:cs typeface="Open Sans 1"/>
                  <a:sym typeface="Open Sans 1"/>
                </a:endParaRPr>
              </a:p>
              <a:p>
                <a:pPr algn="ctr">
                  <a:lnSpc>
                    <a:spcPts val="2820"/>
                  </a:lnSpc>
                </a:pPr>
                <a:r>
                  <a:rPr lang="en-US" sz="2014">
                    <a:solidFill>
                      <a:srgbClr val="FEFEFE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Accélération législative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-5400000">
              <a:off x="13525155" y="3205654"/>
              <a:ext cx="1490727" cy="468975"/>
              <a:chOff x="0" y="0"/>
              <a:chExt cx="2265586" cy="71274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265586" cy="712741"/>
              </a:xfrm>
              <a:custGeom>
                <a:avLst/>
                <a:gdLst/>
                <a:ahLst/>
                <a:cxnLst/>
                <a:rect l="l" t="t" r="r" b="b"/>
                <a:pathLst>
                  <a:path w="2265586" h="712741">
                    <a:moveTo>
                      <a:pt x="239386" y="167582"/>
                    </a:moveTo>
                    <a:lnTo>
                      <a:pt x="2265586" y="167582"/>
                    </a:lnTo>
                    <a:lnTo>
                      <a:pt x="2265586" y="545086"/>
                    </a:lnTo>
                    <a:lnTo>
                      <a:pt x="239373" y="545086"/>
                    </a:lnTo>
                    <a:lnTo>
                      <a:pt x="302255" y="712741"/>
                    </a:lnTo>
                    <a:lnTo>
                      <a:pt x="0" y="356371"/>
                    </a:lnTo>
                    <a:lnTo>
                      <a:pt x="302255" y="0"/>
                    </a:lnTo>
                    <a:lnTo>
                      <a:pt x="239386" y="167582"/>
                    </a:lnTo>
                    <a:close/>
                  </a:path>
                </a:pathLst>
              </a:custGeom>
              <a:solidFill>
                <a:srgbClr val="DB2802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20650" y="117475"/>
                <a:ext cx="2144936" cy="430166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2643654" y="4185505"/>
              <a:ext cx="3253730" cy="4114800"/>
              <a:chOff x="0" y="0"/>
              <a:chExt cx="642712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64271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42712" h="812800">
                    <a:moveTo>
                      <a:pt x="0" y="0"/>
                    </a:moveTo>
                    <a:lnTo>
                      <a:pt x="642712" y="0"/>
                    </a:lnTo>
                    <a:lnTo>
                      <a:pt x="64271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ln w="28575" cap="sq">
                <a:solidFill>
                  <a:srgbClr val="DB2802"/>
                </a:solidFill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642712" cy="860425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r>
                  <a:rPr lang="en-US" sz="2014">
                    <a:solidFill>
                      <a:srgbClr val="FEFEFE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TPMS obligatoire pour véhicules neufs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-5400000">
              <a:off x="17718685" y="3205654"/>
              <a:ext cx="1490727" cy="468975"/>
              <a:chOff x="0" y="0"/>
              <a:chExt cx="2265586" cy="712741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2265586" cy="712741"/>
              </a:xfrm>
              <a:custGeom>
                <a:avLst/>
                <a:gdLst/>
                <a:ahLst/>
                <a:cxnLst/>
                <a:rect l="l" t="t" r="r" b="b"/>
                <a:pathLst>
                  <a:path w="2265586" h="712741">
                    <a:moveTo>
                      <a:pt x="239386" y="167582"/>
                    </a:moveTo>
                    <a:lnTo>
                      <a:pt x="2265586" y="167582"/>
                    </a:lnTo>
                    <a:lnTo>
                      <a:pt x="2265586" y="545086"/>
                    </a:lnTo>
                    <a:lnTo>
                      <a:pt x="239373" y="545086"/>
                    </a:lnTo>
                    <a:lnTo>
                      <a:pt x="302255" y="712741"/>
                    </a:lnTo>
                    <a:lnTo>
                      <a:pt x="0" y="356371"/>
                    </a:lnTo>
                    <a:lnTo>
                      <a:pt x="302255" y="0"/>
                    </a:lnTo>
                    <a:lnTo>
                      <a:pt x="239386" y="167582"/>
                    </a:lnTo>
                    <a:close/>
                  </a:path>
                </a:pathLst>
              </a:custGeom>
              <a:solidFill>
                <a:srgbClr val="DB2802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20650" y="117475"/>
                <a:ext cx="2144936" cy="430166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6837184" y="4185505"/>
              <a:ext cx="3253730" cy="4114800"/>
              <a:chOff x="0" y="0"/>
              <a:chExt cx="642712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64271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42712" h="812800">
                    <a:moveTo>
                      <a:pt x="0" y="0"/>
                    </a:moveTo>
                    <a:lnTo>
                      <a:pt x="642712" y="0"/>
                    </a:lnTo>
                    <a:lnTo>
                      <a:pt x="64271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ln w="28575" cap="sq">
                <a:solidFill>
                  <a:srgbClr val="DB2802"/>
                </a:solidFill>
                <a:prstDash val="solid"/>
                <a:miter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0" y="-47625"/>
                <a:ext cx="642712" cy="860425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r>
                  <a:rPr lang="en-US" sz="2014">
                    <a:solidFill>
                      <a:srgbClr val="FEFEFE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Obligatoire nouveaux modèles (2012) </a:t>
                </a:r>
              </a:p>
              <a:p>
                <a:pPr algn="ctr">
                  <a:lnSpc>
                    <a:spcPts val="1399"/>
                  </a:lnSpc>
                </a:pPr>
                <a:endParaRPr lang="en-US" sz="2014">
                  <a:solidFill>
                    <a:srgbClr val="FEFEFE"/>
                  </a:solidFill>
                  <a:latin typeface="Open Sans 1"/>
                  <a:ea typeface="Open Sans 1"/>
                  <a:cs typeface="Open Sans 1"/>
                  <a:sym typeface="Open Sans 1"/>
                </a:endParaRPr>
              </a:p>
              <a:p>
                <a:pPr algn="ctr">
                  <a:lnSpc>
                    <a:spcPts val="2820"/>
                  </a:lnSpc>
                </a:pPr>
                <a:r>
                  <a:rPr lang="en-US" sz="2014">
                    <a:solidFill>
                      <a:srgbClr val="FEFEFE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Toute vente (2014)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-5400000">
              <a:off x="21994449" y="3205654"/>
              <a:ext cx="1490727" cy="468975"/>
              <a:chOff x="0" y="0"/>
              <a:chExt cx="2265586" cy="71274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2265586" cy="712741"/>
              </a:xfrm>
              <a:custGeom>
                <a:avLst/>
                <a:gdLst/>
                <a:ahLst/>
                <a:cxnLst/>
                <a:rect l="l" t="t" r="r" b="b"/>
                <a:pathLst>
                  <a:path w="2265586" h="712741">
                    <a:moveTo>
                      <a:pt x="239386" y="167582"/>
                    </a:moveTo>
                    <a:lnTo>
                      <a:pt x="2265586" y="167582"/>
                    </a:lnTo>
                    <a:lnTo>
                      <a:pt x="2265586" y="545086"/>
                    </a:lnTo>
                    <a:lnTo>
                      <a:pt x="239373" y="545086"/>
                    </a:lnTo>
                    <a:lnTo>
                      <a:pt x="302255" y="712741"/>
                    </a:lnTo>
                    <a:lnTo>
                      <a:pt x="0" y="356371"/>
                    </a:lnTo>
                    <a:lnTo>
                      <a:pt x="302255" y="0"/>
                    </a:lnTo>
                    <a:lnTo>
                      <a:pt x="239386" y="167582"/>
                    </a:lnTo>
                    <a:close/>
                  </a:path>
                </a:pathLst>
              </a:custGeom>
              <a:solidFill>
                <a:srgbClr val="DB2802"/>
              </a:solid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20650" y="117475"/>
                <a:ext cx="2144936" cy="430166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endParaRPr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21112948" y="4185505"/>
              <a:ext cx="3253730" cy="4114800"/>
              <a:chOff x="0" y="0"/>
              <a:chExt cx="642712" cy="8128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64271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42712" h="812800">
                    <a:moveTo>
                      <a:pt x="0" y="0"/>
                    </a:moveTo>
                    <a:lnTo>
                      <a:pt x="642712" y="0"/>
                    </a:lnTo>
                    <a:lnTo>
                      <a:pt x="64271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ln w="28575" cap="sq">
                <a:solidFill>
                  <a:srgbClr val="DB2802"/>
                </a:solidFill>
                <a:prstDash val="solid"/>
                <a:miter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0" y="-47625"/>
                <a:ext cx="642712" cy="860425"/>
              </a:xfrm>
              <a:prstGeom prst="rect">
                <a:avLst/>
              </a:prstGeom>
            </p:spPr>
            <p:txBody>
              <a:bodyPr lIns="53862" tIns="53862" rIns="53862" bIns="53862" rtlCol="0" anchor="ctr"/>
              <a:lstStyle/>
              <a:p>
                <a:pPr algn="ctr">
                  <a:lnSpc>
                    <a:spcPts val="2820"/>
                  </a:lnSpc>
                </a:pPr>
                <a:r>
                  <a:rPr lang="en-US" sz="2014">
                    <a:solidFill>
                      <a:srgbClr val="FEFEFE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Intégration smartphones</a:t>
                </a:r>
              </a:p>
              <a:p>
                <a:pPr algn="ctr">
                  <a:lnSpc>
                    <a:spcPts val="1399"/>
                  </a:lnSpc>
                </a:pPr>
                <a:endParaRPr lang="en-US" sz="2014">
                  <a:solidFill>
                    <a:srgbClr val="FEFEFE"/>
                  </a:solidFill>
                  <a:latin typeface="Open Sans 1"/>
                  <a:ea typeface="Open Sans 1"/>
                  <a:cs typeface="Open Sans 1"/>
                  <a:sym typeface="Open Sans 1"/>
                </a:endParaRPr>
              </a:p>
              <a:p>
                <a:pPr algn="ctr">
                  <a:lnSpc>
                    <a:spcPts val="2820"/>
                  </a:lnSpc>
                </a:pPr>
                <a:r>
                  <a:rPr lang="en-US" sz="2014">
                    <a:solidFill>
                      <a:srgbClr val="FEFEFE"/>
                    </a:solidFill>
                    <a:latin typeface="Open Sans 1"/>
                    <a:ea typeface="Open Sans 1"/>
                    <a:cs typeface="Open Sans 1"/>
                    <a:sym typeface="Open Sans 1"/>
                  </a:rPr>
                  <a:t>Gestion de flotte (TPMS 2.0)</a:t>
                </a:r>
              </a:p>
            </p:txBody>
          </p:sp>
        </p:grpSp>
      </p:grpSp>
      <p:sp>
        <p:nvSpPr>
          <p:cNvPr id="62" name="TextBox 62"/>
          <p:cNvSpPr txBox="1"/>
          <p:nvPr/>
        </p:nvSpPr>
        <p:spPr>
          <a:xfrm>
            <a:off x="17709720" y="9607159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5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550254" y="923925"/>
            <a:ext cx="9187492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Historique du TPMS [1.1] [1.2]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09720" y="9607159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868999" y="2635155"/>
            <a:ext cx="14550001" cy="5016691"/>
            <a:chOff x="0" y="0"/>
            <a:chExt cx="19400002" cy="6688921"/>
          </a:xfrm>
        </p:grpSpPr>
        <p:sp>
          <p:nvSpPr>
            <p:cNvPr id="4" name="Freeform 4"/>
            <p:cNvSpPr/>
            <p:nvPr/>
          </p:nvSpPr>
          <p:spPr>
            <a:xfrm>
              <a:off x="0" y="1157451"/>
              <a:ext cx="9999098" cy="5531470"/>
            </a:xfrm>
            <a:custGeom>
              <a:avLst/>
              <a:gdLst/>
              <a:ahLst/>
              <a:cxnLst/>
              <a:rect l="l" t="t" r="r" b="b"/>
              <a:pathLst>
                <a:path w="9999098" h="5531470">
                  <a:moveTo>
                    <a:pt x="0" y="0"/>
                  </a:moveTo>
                  <a:lnTo>
                    <a:pt x="9999098" y="0"/>
                  </a:lnTo>
                  <a:lnTo>
                    <a:pt x="9999098" y="5531470"/>
                  </a:lnTo>
                  <a:lnTo>
                    <a:pt x="0" y="553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3845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996657" y="1157451"/>
              <a:ext cx="8403345" cy="5531470"/>
            </a:xfrm>
            <a:custGeom>
              <a:avLst/>
              <a:gdLst/>
              <a:ahLst/>
              <a:cxnLst/>
              <a:rect l="l" t="t" r="r" b="b"/>
              <a:pathLst>
                <a:path w="8403345" h="5531470">
                  <a:moveTo>
                    <a:pt x="0" y="0"/>
                  </a:moveTo>
                  <a:lnTo>
                    <a:pt x="8403345" y="0"/>
                  </a:lnTo>
                  <a:lnTo>
                    <a:pt x="8403345" y="5531470"/>
                  </a:lnTo>
                  <a:lnTo>
                    <a:pt x="0" y="553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039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968541" y="-66675"/>
              <a:ext cx="4062016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1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TPMS indirect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452576" y="-66675"/>
              <a:ext cx="3491508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1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TPMS direct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92745" y="927897"/>
            <a:ext cx="6302509" cy="863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Types de TPMS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28636" y="7932324"/>
            <a:ext cx="5355002" cy="580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 : TPMS indirect [2]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45976" y="7932324"/>
            <a:ext cx="4980781" cy="580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 : TPMS direct [3]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CC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01791">
            <a:off x="-576810" y="7108710"/>
            <a:ext cx="6148601" cy="1111872"/>
          </a:xfrm>
          <a:custGeom>
            <a:avLst/>
            <a:gdLst/>
            <a:ahLst/>
            <a:cxnLst/>
            <a:rect l="l" t="t" r="r" b="b"/>
            <a:pathLst>
              <a:path w="6148601" h="1111872">
                <a:moveTo>
                  <a:pt x="0" y="0"/>
                </a:moveTo>
                <a:lnTo>
                  <a:pt x="6148601" y="0"/>
                </a:lnTo>
                <a:lnTo>
                  <a:pt x="6148601" y="1111872"/>
                </a:lnTo>
                <a:lnTo>
                  <a:pt x="0" y="111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78243" y="4429125"/>
            <a:ext cx="13731514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lang="en-US" sz="7500" b="1">
                <a:solidFill>
                  <a:srgbClr val="00000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Réalisation du TPMS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09720" y="9607159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7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19718" y="1462185"/>
            <a:ext cx="6350405" cy="8124540"/>
          </a:xfrm>
          <a:custGeom>
            <a:avLst/>
            <a:gdLst/>
            <a:ahLst/>
            <a:cxnLst/>
            <a:rect l="l" t="t" r="r" b="b"/>
            <a:pathLst>
              <a:path w="6350405" h="8124540">
                <a:moveTo>
                  <a:pt x="0" y="0"/>
                </a:moveTo>
                <a:lnTo>
                  <a:pt x="6350406" y="0"/>
                </a:lnTo>
                <a:lnTo>
                  <a:pt x="6350406" y="8124540"/>
                </a:lnTo>
                <a:lnTo>
                  <a:pt x="0" y="8124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920455"/>
            <a:ext cx="9392208" cy="3972532"/>
            <a:chOff x="0" y="0"/>
            <a:chExt cx="12522944" cy="52967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70464" cy="5296709"/>
            </a:xfrm>
            <a:custGeom>
              <a:avLst/>
              <a:gdLst/>
              <a:ahLst/>
              <a:cxnLst/>
              <a:rect l="l" t="t" r="r" b="b"/>
              <a:pathLst>
                <a:path w="11770464" h="5296709">
                  <a:moveTo>
                    <a:pt x="0" y="0"/>
                  </a:moveTo>
                  <a:lnTo>
                    <a:pt x="11770464" y="0"/>
                  </a:lnTo>
                  <a:lnTo>
                    <a:pt x="11770464" y="5296709"/>
                  </a:lnTo>
                  <a:lnTo>
                    <a:pt x="0" y="5296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7189" t="-80607" r="-26720" b="-93031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8379003" y="2284900"/>
              <a:ext cx="1177563" cy="1278614"/>
              <a:chOff x="0" y="0"/>
              <a:chExt cx="232605" cy="25256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32605" cy="252566"/>
              </a:xfrm>
              <a:custGeom>
                <a:avLst/>
                <a:gdLst/>
                <a:ahLst/>
                <a:cxnLst/>
                <a:rect l="l" t="t" r="r" b="b"/>
                <a:pathLst>
                  <a:path w="232605" h="252566">
                    <a:moveTo>
                      <a:pt x="0" y="0"/>
                    </a:moveTo>
                    <a:lnTo>
                      <a:pt x="232605" y="0"/>
                    </a:lnTo>
                    <a:lnTo>
                      <a:pt x="232605" y="252566"/>
                    </a:lnTo>
                    <a:lnTo>
                      <a:pt x="0" y="252566"/>
                    </a:lnTo>
                    <a:close/>
                  </a:path>
                </a:pathLst>
              </a:custGeom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32605" cy="2906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AutoShape 8"/>
            <p:cNvSpPr/>
            <p:nvPr/>
          </p:nvSpPr>
          <p:spPr>
            <a:xfrm>
              <a:off x="9502595" y="3502884"/>
              <a:ext cx="3018762" cy="107788"/>
            </a:xfrm>
            <a:prstGeom prst="line">
              <a:avLst/>
            </a:prstGeom>
            <a:ln w="88900" cap="flat">
              <a:solidFill>
                <a:srgbClr val="FF3131"/>
              </a:solidFill>
              <a:prstDash val="solid"/>
              <a:headEnd type="none" w="sm" len="sm"/>
              <a:tailEnd type="triangle" w="lg" len="med"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6377279" y="3956711"/>
              <a:ext cx="2419132" cy="1164090"/>
              <a:chOff x="0" y="0"/>
              <a:chExt cx="477853" cy="22994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77853" cy="229944"/>
              </a:xfrm>
              <a:custGeom>
                <a:avLst/>
                <a:gdLst/>
                <a:ahLst/>
                <a:cxnLst/>
                <a:rect l="l" t="t" r="r" b="b"/>
                <a:pathLst>
                  <a:path w="477853" h="229944">
                    <a:moveTo>
                      <a:pt x="0" y="0"/>
                    </a:moveTo>
                    <a:lnTo>
                      <a:pt x="477853" y="0"/>
                    </a:lnTo>
                    <a:lnTo>
                      <a:pt x="477853" y="229944"/>
                    </a:lnTo>
                    <a:lnTo>
                      <a:pt x="0" y="229944"/>
                    </a:lnTo>
                    <a:close/>
                  </a:path>
                </a:pathLst>
              </a:custGeom>
              <a:ln w="38100" cap="sq">
                <a:solidFill>
                  <a:srgbClr val="F1C446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77853" cy="2680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937903" y="1348306"/>
              <a:ext cx="1439376" cy="1390687"/>
              <a:chOff x="0" y="0"/>
              <a:chExt cx="284321" cy="27470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84321" cy="274704"/>
              </a:xfrm>
              <a:custGeom>
                <a:avLst/>
                <a:gdLst/>
                <a:ahLst/>
                <a:cxnLst/>
                <a:rect l="l" t="t" r="r" b="b"/>
                <a:pathLst>
                  <a:path w="284321" h="274704">
                    <a:moveTo>
                      <a:pt x="0" y="0"/>
                    </a:moveTo>
                    <a:lnTo>
                      <a:pt x="284321" y="0"/>
                    </a:lnTo>
                    <a:lnTo>
                      <a:pt x="284321" y="274704"/>
                    </a:lnTo>
                    <a:lnTo>
                      <a:pt x="0" y="274704"/>
                    </a:lnTo>
                    <a:close/>
                  </a:path>
                </a:pathLst>
              </a:custGeom>
              <a:ln w="38100" cap="sq">
                <a:solidFill>
                  <a:srgbClr val="1800AD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84321" cy="3128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221404" y="462258"/>
              <a:ext cx="1913353" cy="779539"/>
              <a:chOff x="0" y="0"/>
              <a:chExt cx="377946" cy="15398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77946" cy="153983"/>
              </a:xfrm>
              <a:custGeom>
                <a:avLst/>
                <a:gdLst/>
                <a:ahLst/>
                <a:cxnLst/>
                <a:rect l="l" t="t" r="r" b="b"/>
                <a:pathLst>
                  <a:path w="377946" h="153983">
                    <a:moveTo>
                      <a:pt x="0" y="0"/>
                    </a:moveTo>
                    <a:lnTo>
                      <a:pt x="377946" y="0"/>
                    </a:lnTo>
                    <a:lnTo>
                      <a:pt x="377946" y="153983"/>
                    </a:lnTo>
                    <a:lnTo>
                      <a:pt x="0" y="153983"/>
                    </a:lnTo>
                    <a:close/>
                  </a:path>
                </a:pathLst>
              </a:custGeom>
              <a:ln w="66675" cap="sq">
                <a:solidFill>
                  <a:srgbClr val="FF751F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377946" cy="1920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461238" y="1702855"/>
              <a:ext cx="738976" cy="1356087"/>
              <a:chOff x="0" y="0"/>
              <a:chExt cx="145971" cy="26786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5971" cy="267869"/>
              </a:xfrm>
              <a:custGeom>
                <a:avLst/>
                <a:gdLst/>
                <a:ahLst/>
                <a:cxnLst/>
                <a:rect l="l" t="t" r="r" b="b"/>
                <a:pathLst>
                  <a:path w="145971" h="267869">
                    <a:moveTo>
                      <a:pt x="0" y="0"/>
                    </a:moveTo>
                    <a:lnTo>
                      <a:pt x="145971" y="0"/>
                    </a:lnTo>
                    <a:lnTo>
                      <a:pt x="145971" y="267869"/>
                    </a:lnTo>
                    <a:lnTo>
                      <a:pt x="0" y="267869"/>
                    </a:lnTo>
                    <a:close/>
                  </a:path>
                </a:pathLst>
              </a:custGeom>
              <a:ln w="38100" cap="sq">
                <a:solidFill>
                  <a:srgbClr val="FF751F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5971" cy="3059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247710" y="1905375"/>
              <a:ext cx="1058285" cy="1290651"/>
              <a:chOff x="0" y="0"/>
              <a:chExt cx="209044" cy="25494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09044" cy="254943"/>
              </a:xfrm>
              <a:custGeom>
                <a:avLst/>
                <a:gdLst/>
                <a:ahLst/>
                <a:cxnLst/>
                <a:rect l="l" t="t" r="r" b="b"/>
                <a:pathLst>
                  <a:path w="209044" h="254943">
                    <a:moveTo>
                      <a:pt x="0" y="0"/>
                    </a:moveTo>
                    <a:lnTo>
                      <a:pt x="209044" y="0"/>
                    </a:lnTo>
                    <a:lnTo>
                      <a:pt x="209044" y="254943"/>
                    </a:lnTo>
                    <a:lnTo>
                      <a:pt x="0" y="254943"/>
                    </a:lnTo>
                    <a:close/>
                  </a:path>
                </a:pathLst>
              </a:custGeom>
              <a:ln w="28575" cap="sq">
                <a:solidFill>
                  <a:srgbClr val="1800AD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209044" cy="2930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0" y="55400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A. Etude de l’émetteur “FXTH87xD”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8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409456" y="6570409"/>
            <a:ext cx="6630696" cy="2687891"/>
            <a:chOff x="0" y="0"/>
            <a:chExt cx="8840928" cy="3583855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8840928" cy="3583855"/>
              <a:chOff x="0" y="0"/>
              <a:chExt cx="1778696" cy="72103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778696" cy="721032"/>
              </a:xfrm>
              <a:custGeom>
                <a:avLst/>
                <a:gdLst/>
                <a:ahLst/>
                <a:cxnLst/>
                <a:rect l="l" t="t" r="r" b="b"/>
                <a:pathLst>
                  <a:path w="1778696" h="721032">
                    <a:moveTo>
                      <a:pt x="29190" y="0"/>
                    </a:moveTo>
                    <a:lnTo>
                      <a:pt x="1749506" y="0"/>
                    </a:lnTo>
                    <a:cubicBezTo>
                      <a:pt x="1765627" y="0"/>
                      <a:pt x="1778696" y="13069"/>
                      <a:pt x="1778696" y="29190"/>
                    </a:cubicBezTo>
                    <a:lnTo>
                      <a:pt x="1778696" y="691842"/>
                    </a:lnTo>
                    <a:cubicBezTo>
                      <a:pt x="1778696" y="707963"/>
                      <a:pt x="1765627" y="721032"/>
                      <a:pt x="1749506" y="721032"/>
                    </a:cubicBezTo>
                    <a:lnTo>
                      <a:pt x="29190" y="721032"/>
                    </a:lnTo>
                    <a:cubicBezTo>
                      <a:pt x="21448" y="721032"/>
                      <a:pt x="14024" y="717956"/>
                      <a:pt x="8549" y="712482"/>
                    </a:cubicBezTo>
                    <a:cubicBezTo>
                      <a:pt x="3075" y="707008"/>
                      <a:pt x="0" y="699583"/>
                      <a:pt x="0" y="691842"/>
                    </a:cubicBezTo>
                    <a:lnTo>
                      <a:pt x="0" y="29190"/>
                    </a:lnTo>
                    <a:cubicBezTo>
                      <a:pt x="0" y="13069"/>
                      <a:pt x="13069" y="0"/>
                      <a:pt x="291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19050"/>
                <a:ext cx="1778696" cy="740082"/>
              </a:xfrm>
              <a:prstGeom prst="rect">
                <a:avLst/>
              </a:prstGeom>
            </p:spPr>
            <p:txBody>
              <a:bodyPr lIns="635000" tIns="635000" rIns="635000" bIns="635000" rtlCol="0" anchor="ctr"/>
              <a:lstStyle/>
              <a:p>
                <a:pPr algn="l">
                  <a:lnSpc>
                    <a:spcPts val="4029"/>
                  </a:lnSpc>
                </a:pPr>
                <a:endParaRPr/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0" y="0"/>
              <a:ext cx="8840928" cy="3583855"/>
            </a:xfrm>
            <a:custGeom>
              <a:avLst/>
              <a:gdLst/>
              <a:ahLst/>
              <a:cxnLst/>
              <a:rect l="l" t="t" r="r" b="b"/>
              <a:pathLst>
                <a:path w="8840928" h="3583855">
                  <a:moveTo>
                    <a:pt x="0" y="0"/>
                  </a:moveTo>
                  <a:lnTo>
                    <a:pt x="8840928" y="0"/>
                  </a:lnTo>
                  <a:lnTo>
                    <a:pt x="8840928" y="3583855"/>
                  </a:lnTo>
                  <a:lnTo>
                    <a:pt x="0" y="358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3822594" y="5996767"/>
            <a:ext cx="3804419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3 : TPMS émetteur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01645" y="9363075"/>
            <a:ext cx="6246317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4 : Représentation du FXTH87xD [4]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651240" y="9596250"/>
            <a:ext cx="5887362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5 : Représentation détaillée [4]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3345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A. Etude de l’émetteur “FXTH87xD”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9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719410" y="1933373"/>
            <a:ext cx="14849179" cy="6420253"/>
            <a:chOff x="0" y="0"/>
            <a:chExt cx="19798905" cy="8560338"/>
          </a:xfrm>
        </p:grpSpPr>
        <p:sp>
          <p:nvSpPr>
            <p:cNvPr id="5" name="Freeform 5"/>
            <p:cNvSpPr/>
            <p:nvPr/>
          </p:nvSpPr>
          <p:spPr>
            <a:xfrm>
              <a:off x="0" y="1343743"/>
              <a:ext cx="19504311" cy="7216595"/>
            </a:xfrm>
            <a:custGeom>
              <a:avLst/>
              <a:gdLst/>
              <a:ahLst/>
              <a:cxnLst/>
              <a:rect l="l" t="t" r="r" b="b"/>
              <a:pathLst>
                <a:path w="19504311" h="7216595">
                  <a:moveTo>
                    <a:pt x="0" y="0"/>
                  </a:moveTo>
                  <a:lnTo>
                    <a:pt x="19504311" y="0"/>
                  </a:lnTo>
                  <a:lnTo>
                    <a:pt x="19504311" y="7216595"/>
                  </a:lnTo>
                  <a:lnTo>
                    <a:pt x="0" y="7216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4528600" y="-66675"/>
              <a:ext cx="4098056" cy="807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6"/>
                </a:lnSpc>
              </a:pPr>
              <a:r>
                <a:rPr lang="en-US" sz="3668" b="1">
                  <a:solidFill>
                    <a:srgbClr val="000001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Code Warrior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663206" y="-66675"/>
              <a:ext cx="5135700" cy="807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6"/>
                </a:lnSpc>
              </a:pPr>
              <a:r>
                <a:rPr lang="en-US" sz="3668" b="1">
                  <a:solidFill>
                    <a:srgbClr val="000001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FXTH87 Program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683371" y="8531668"/>
            <a:ext cx="5887362" cy="86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6 : Interface du logiciel CodeWarrior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53380" y="8531668"/>
            <a:ext cx="5887362" cy="86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7 : Interface du logiciel chinois du capteur FXT87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4141" y="1195349"/>
            <a:ext cx="8040346" cy="3468385"/>
          </a:xfrm>
          <a:custGeom>
            <a:avLst/>
            <a:gdLst/>
            <a:ahLst/>
            <a:cxnLst/>
            <a:rect l="l" t="t" r="r" b="b"/>
            <a:pathLst>
              <a:path w="8040346" h="3468385">
                <a:moveTo>
                  <a:pt x="0" y="0"/>
                </a:moveTo>
                <a:lnTo>
                  <a:pt x="8040346" y="0"/>
                </a:lnTo>
                <a:lnTo>
                  <a:pt x="8040346" y="3468384"/>
                </a:lnTo>
                <a:lnTo>
                  <a:pt x="0" y="3468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825" t="-72778" r="-20443" b="-9588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174551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B. Etude du récepteur “TDA5235”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</a:p>
        </p:txBody>
      </p:sp>
      <p:sp>
        <p:nvSpPr>
          <p:cNvPr id="5" name="Freeform 5"/>
          <p:cNvSpPr/>
          <p:nvPr/>
        </p:nvSpPr>
        <p:spPr>
          <a:xfrm>
            <a:off x="1450990" y="4825658"/>
            <a:ext cx="10846649" cy="4857597"/>
          </a:xfrm>
          <a:custGeom>
            <a:avLst/>
            <a:gdLst/>
            <a:ahLst/>
            <a:cxnLst/>
            <a:rect l="l" t="t" r="r" b="b"/>
            <a:pathLst>
              <a:path w="10846649" h="4857597">
                <a:moveTo>
                  <a:pt x="0" y="0"/>
                </a:moveTo>
                <a:lnTo>
                  <a:pt x="10846649" y="0"/>
                </a:lnTo>
                <a:lnTo>
                  <a:pt x="10846649" y="4857598"/>
                </a:lnTo>
                <a:lnTo>
                  <a:pt x="0" y="485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2" r="-170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518571" y="6987412"/>
            <a:ext cx="4017933" cy="86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9 : Représentation détaillée du TDA5235 [5]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62578" y="2694609"/>
            <a:ext cx="3789722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8 : TPMS </a:t>
            </a:r>
            <a:r>
              <a:rPr lang="en-US" sz="2499" dirty="0" err="1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récepteur</a:t>
            </a:r>
            <a:endParaRPr lang="en-US" sz="2499" dirty="0">
              <a:solidFill>
                <a:srgbClr val="000001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217361" y="2492252"/>
            <a:ext cx="883172" cy="1008979"/>
            <a:chOff x="0" y="0"/>
            <a:chExt cx="232605" cy="2657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2605" cy="265739"/>
            </a:xfrm>
            <a:custGeom>
              <a:avLst/>
              <a:gdLst/>
              <a:ahLst/>
              <a:cxnLst/>
              <a:rect l="l" t="t" r="r" b="b"/>
              <a:pathLst>
                <a:path w="232605" h="265739">
                  <a:moveTo>
                    <a:pt x="0" y="0"/>
                  </a:moveTo>
                  <a:lnTo>
                    <a:pt x="232605" y="0"/>
                  </a:lnTo>
                  <a:lnTo>
                    <a:pt x="232605" y="265739"/>
                  </a:lnTo>
                  <a:lnTo>
                    <a:pt x="0" y="265739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2605" cy="303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 flipH="1">
            <a:off x="8378473" y="3501230"/>
            <a:ext cx="28189" cy="1359648"/>
          </a:xfrm>
          <a:prstGeom prst="line">
            <a:avLst/>
          </a:prstGeom>
          <a:ln w="666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EE8B89F7-0792-C871-07F6-177E85C94363}"/>
              </a:ext>
            </a:extLst>
          </p:cNvPr>
          <p:cNvSpPr txBox="1"/>
          <p:nvPr/>
        </p:nvSpPr>
        <p:spPr>
          <a:xfrm>
            <a:off x="8383025" y="1265308"/>
            <a:ext cx="1435015" cy="72931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758C62FD-0902-4A66-21F1-2C58E7BB6A5E}"/>
              </a:ext>
            </a:extLst>
          </p:cNvPr>
          <p:cNvSpPr txBox="1"/>
          <p:nvPr/>
        </p:nvSpPr>
        <p:spPr>
          <a:xfrm>
            <a:off x="11277600" y="1475546"/>
            <a:ext cx="1435015" cy="72931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6058EE-5993-832F-C480-5DDBB5434D62}"/>
              </a:ext>
            </a:extLst>
          </p:cNvPr>
          <p:cNvSpPr/>
          <p:nvPr/>
        </p:nvSpPr>
        <p:spPr>
          <a:xfrm>
            <a:off x="8406662" y="1265308"/>
            <a:ext cx="1411378" cy="525392"/>
          </a:xfrm>
          <a:prstGeom prst="rect">
            <a:avLst/>
          </a:prstGeom>
          <a:noFill/>
          <a:ln w="571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3345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B. Etude du récepteur “TDA5235”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41683" y="2170302"/>
            <a:ext cx="17204634" cy="6619398"/>
            <a:chOff x="0" y="0"/>
            <a:chExt cx="22939513" cy="8825865"/>
          </a:xfrm>
        </p:grpSpPr>
        <p:sp>
          <p:nvSpPr>
            <p:cNvPr id="5" name="Freeform 5"/>
            <p:cNvSpPr/>
            <p:nvPr/>
          </p:nvSpPr>
          <p:spPr>
            <a:xfrm>
              <a:off x="12347740" y="1213028"/>
              <a:ext cx="10591772" cy="7612836"/>
            </a:xfrm>
            <a:custGeom>
              <a:avLst/>
              <a:gdLst/>
              <a:ahLst/>
              <a:cxnLst/>
              <a:rect l="l" t="t" r="r" b="b"/>
              <a:pathLst>
                <a:path w="10591772" h="7612836">
                  <a:moveTo>
                    <a:pt x="0" y="0"/>
                  </a:moveTo>
                  <a:lnTo>
                    <a:pt x="10591773" y="0"/>
                  </a:lnTo>
                  <a:lnTo>
                    <a:pt x="10591773" y="7612837"/>
                  </a:lnTo>
                  <a:lnTo>
                    <a:pt x="0" y="7612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1213028"/>
              <a:ext cx="12128614" cy="5533680"/>
            </a:xfrm>
            <a:custGeom>
              <a:avLst/>
              <a:gdLst/>
              <a:ahLst/>
              <a:cxnLst/>
              <a:rect l="l" t="t" r="r" b="b"/>
              <a:pathLst>
                <a:path w="12128614" h="5533680">
                  <a:moveTo>
                    <a:pt x="0" y="0"/>
                  </a:moveTo>
                  <a:lnTo>
                    <a:pt x="12128614" y="0"/>
                  </a:lnTo>
                  <a:lnTo>
                    <a:pt x="12128614" y="5533680"/>
                  </a:lnTo>
                  <a:lnTo>
                    <a:pt x="0" y="553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15808471" y="-66675"/>
              <a:ext cx="367031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1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MCUISP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30723" y="-66675"/>
              <a:ext cx="6467167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1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KIEL UVISION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2547" y="7305846"/>
            <a:ext cx="669577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10 : Interface du logiciel Keil µVision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8836062"/>
            <a:ext cx="9302911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11 : Interface du logiciel MCUISP du capteur TDA5235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CC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01791">
            <a:off x="-576810" y="7108710"/>
            <a:ext cx="6148601" cy="1111872"/>
          </a:xfrm>
          <a:custGeom>
            <a:avLst/>
            <a:gdLst/>
            <a:ahLst/>
            <a:cxnLst/>
            <a:rect l="l" t="t" r="r" b="b"/>
            <a:pathLst>
              <a:path w="6148601" h="1111872">
                <a:moveTo>
                  <a:pt x="0" y="0"/>
                </a:moveTo>
                <a:lnTo>
                  <a:pt x="6148601" y="0"/>
                </a:lnTo>
                <a:lnTo>
                  <a:pt x="6148601" y="1111872"/>
                </a:lnTo>
                <a:lnTo>
                  <a:pt x="0" y="111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63291" y="3905250"/>
            <a:ext cx="12761417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lang="en-US" sz="7500" b="1">
                <a:solidFill>
                  <a:srgbClr val="000001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Calibrage du TPMS et analyse de résultats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09720" y="9607159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12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36685" y="1820304"/>
            <a:ext cx="5214630" cy="6646393"/>
          </a:xfrm>
          <a:custGeom>
            <a:avLst/>
            <a:gdLst/>
            <a:ahLst/>
            <a:cxnLst/>
            <a:rect l="l" t="t" r="r" b="b"/>
            <a:pathLst>
              <a:path w="5214630" h="6646393">
                <a:moveTo>
                  <a:pt x="0" y="0"/>
                </a:moveTo>
                <a:lnTo>
                  <a:pt x="5214630" y="0"/>
                </a:lnTo>
                <a:lnTo>
                  <a:pt x="5214630" y="6646392"/>
                </a:lnTo>
                <a:lnTo>
                  <a:pt x="0" y="6646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55400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A. Calibrage de la température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0319" y="8592299"/>
            <a:ext cx="5887362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12 : Calibrage du FXTH87xD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8534" y="3699200"/>
            <a:ext cx="8493868" cy="4130143"/>
          </a:xfrm>
          <a:custGeom>
            <a:avLst/>
            <a:gdLst/>
            <a:ahLst/>
            <a:cxnLst/>
            <a:rect l="l" t="t" r="r" b="b"/>
            <a:pathLst>
              <a:path w="8493868" h="4130143">
                <a:moveTo>
                  <a:pt x="0" y="0"/>
                </a:moveTo>
                <a:lnTo>
                  <a:pt x="8493868" y="0"/>
                </a:lnTo>
                <a:lnTo>
                  <a:pt x="8493868" y="4130143"/>
                </a:lnTo>
                <a:lnTo>
                  <a:pt x="0" y="4130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3622081"/>
            <a:ext cx="8811066" cy="4284381"/>
          </a:xfrm>
          <a:custGeom>
            <a:avLst/>
            <a:gdLst/>
            <a:ahLst/>
            <a:cxnLst/>
            <a:rect l="l" t="t" r="r" b="b"/>
            <a:pathLst>
              <a:path w="8811066" h="4284381">
                <a:moveTo>
                  <a:pt x="0" y="0"/>
                </a:moveTo>
                <a:lnTo>
                  <a:pt x="8811066" y="0"/>
                </a:lnTo>
                <a:lnTo>
                  <a:pt x="8811066" y="4284381"/>
                </a:lnTo>
                <a:lnTo>
                  <a:pt x="0" y="4284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97" y="93345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A. Calibrage de la température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0161" y="8020521"/>
            <a:ext cx="7190615" cy="86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13 : Graphe Température mesurée par le TPMS en fonction de Température de l’enceinte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8020521"/>
            <a:ext cx="8811066" cy="129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14 : Représentation de la droite de Température mesurée par le TPMS en fonction de Température de l’enceinte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11541" y="2303821"/>
            <a:ext cx="9264918" cy="6954479"/>
          </a:xfrm>
          <a:custGeom>
            <a:avLst/>
            <a:gdLst/>
            <a:ahLst/>
            <a:cxnLst/>
            <a:rect l="l" t="t" r="r" b="b"/>
            <a:pathLst>
              <a:path w="9264918" h="6954479">
                <a:moveTo>
                  <a:pt x="0" y="0"/>
                </a:moveTo>
                <a:lnTo>
                  <a:pt x="9264918" y="0"/>
                </a:lnTo>
                <a:lnTo>
                  <a:pt x="9264918" y="6954479"/>
                </a:lnTo>
                <a:lnTo>
                  <a:pt x="0" y="6954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900036">
            <a:off x="10494685" y="1709793"/>
            <a:ext cx="2426856" cy="728057"/>
          </a:xfrm>
          <a:custGeom>
            <a:avLst/>
            <a:gdLst/>
            <a:ahLst/>
            <a:cxnLst/>
            <a:rect l="l" t="t" r="r" b="b"/>
            <a:pathLst>
              <a:path w="2426856" h="728057">
                <a:moveTo>
                  <a:pt x="0" y="0"/>
                </a:moveTo>
                <a:lnTo>
                  <a:pt x="2426856" y="0"/>
                </a:lnTo>
                <a:lnTo>
                  <a:pt x="2426856" y="728056"/>
                </a:lnTo>
                <a:lnTo>
                  <a:pt x="0" y="728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900036">
            <a:off x="11301502" y="7443927"/>
            <a:ext cx="3345819" cy="1003746"/>
          </a:xfrm>
          <a:custGeom>
            <a:avLst/>
            <a:gdLst/>
            <a:ahLst/>
            <a:cxnLst/>
            <a:rect l="l" t="t" r="r" b="b"/>
            <a:pathLst>
              <a:path w="3345819" h="1003746">
                <a:moveTo>
                  <a:pt x="0" y="0"/>
                </a:moveTo>
                <a:lnTo>
                  <a:pt x="3345819" y="0"/>
                </a:lnTo>
                <a:lnTo>
                  <a:pt x="3345819" y="1003746"/>
                </a:lnTo>
                <a:lnTo>
                  <a:pt x="0" y="1003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947655">
            <a:off x="6444713" y="8935285"/>
            <a:ext cx="2940326" cy="882098"/>
          </a:xfrm>
          <a:custGeom>
            <a:avLst/>
            <a:gdLst/>
            <a:ahLst/>
            <a:cxnLst/>
            <a:rect l="l" t="t" r="r" b="b"/>
            <a:pathLst>
              <a:path w="2940326" h="882098">
                <a:moveTo>
                  <a:pt x="0" y="0"/>
                </a:moveTo>
                <a:lnTo>
                  <a:pt x="2940325" y="0"/>
                </a:lnTo>
                <a:lnTo>
                  <a:pt x="2940325" y="882098"/>
                </a:lnTo>
                <a:lnTo>
                  <a:pt x="0" y="882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9062" y="6907601"/>
            <a:ext cx="7315200" cy="1955936"/>
          </a:xfrm>
          <a:custGeom>
            <a:avLst/>
            <a:gdLst/>
            <a:ahLst/>
            <a:cxnLst/>
            <a:rect l="l" t="t" r="r" b="b"/>
            <a:pathLst>
              <a:path w="7315200" h="1955936">
                <a:moveTo>
                  <a:pt x="0" y="0"/>
                </a:moveTo>
                <a:lnTo>
                  <a:pt x="7315200" y="0"/>
                </a:lnTo>
                <a:lnTo>
                  <a:pt x="7315200" y="1955936"/>
                </a:lnTo>
                <a:lnTo>
                  <a:pt x="0" y="19559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31595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 B. Calibrage de l’accélération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15</a:t>
            </a:r>
          </a:p>
        </p:txBody>
      </p:sp>
      <p:sp>
        <p:nvSpPr>
          <p:cNvPr id="9" name="Freeform 9"/>
          <p:cNvSpPr/>
          <p:nvPr/>
        </p:nvSpPr>
        <p:spPr>
          <a:xfrm rot="8951710">
            <a:off x="9376864" y="4254726"/>
            <a:ext cx="7315200" cy="1955936"/>
          </a:xfrm>
          <a:custGeom>
            <a:avLst/>
            <a:gdLst/>
            <a:ahLst/>
            <a:cxnLst/>
            <a:rect l="l" t="t" r="r" b="b"/>
            <a:pathLst>
              <a:path w="7315200" h="1955936">
                <a:moveTo>
                  <a:pt x="0" y="0"/>
                </a:moveTo>
                <a:lnTo>
                  <a:pt x="7315200" y="0"/>
                </a:lnTo>
                <a:lnTo>
                  <a:pt x="7315200" y="1955936"/>
                </a:lnTo>
                <a:lnTo>
                  <a:pt x="0" y="19559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232145" y="1275121"/>
            <a:ext cx="6258095" cy="586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</a:pPr>
            <a:r>
              <a:rPr lang="en-US" sz="3446" b="1" dirty="0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Tension </a:t>
            </a:r>
            <a:r>
              <a:rPr lang="en-US" sz="3446" b="1" dirty="0" err="1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d’alimentation</a:t>
            </a:r>
            <a:endParaRPr lang="en-US" sz="3446" b="1" dirty="0">
              <a:solidFill>
                <a:srgbClr val="00000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270594" y="1977410"/>
            <a:ext cx="2144072" cy="586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</a:pPr>
            <a:r>
              <a:rPr lang="en-US" sz="3446" b="1" dirty="0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Batterie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9712" y="7359654"/>
            <a:ext cx="3828539" cy="58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</a:pPr>
            <a:r>
              <a:rPr lang="en-US" sz="3446" b="1" dirty="0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Arduino Pro mini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3659" y="9700854"/>
            <a:ext cx="1498651" cy="58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</a:pPr>
            <a:r>
              <a:rPr lang="en-US" sz="3446" b="1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Disque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616" y="8672154"/>
            <a:ext cx="3354819" cy="58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</a:pPr>
            <a:r>
              <a:rPr lang="en-US" sz="3446" b="1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Emetteur TPMS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95658" y="9448324"/>
            <a:ext cx="5887362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15 : Calibrage du FXTH87xD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37028" y="2244620"/>
            <a:ext cx="10813944" cy="5772308"/>
          </a:xfrm>
          <a:custGeom>
            <a:avLst/>
            <a:gdLst/>
            <a:ahLst/>
            <a:cxnLst/>
            <a:rect l="l" t="t" r="r" b="b"/>
            <a:pathLst>
              <a:path w="10813944" h="5772308">
                <a:moveTo>
                  <a:pt x="0" y="0"/>
                </a:moveTo>
                <a:lnTo>
                  <a:pt x="10813944" y="0"/>
                </a:lnTo>
                <a:lnTo>
                  <a:pt x="10813944" y="5772308"/>
                </a:lnTo>
                <a:lnTo>
                  <a:pt x="0" y="577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28" t="-5277" r="-10052" b="-301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93345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B. Calibrage de l’accélération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37028" y="8185978"/>
            <a:ext cx="10813944" cy="86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16 : Représentation de la droite de l’Accélération rad mesurée par le TPMS en fonction de l’Accélération rad mesurée par le carte IMU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320596"/>
            <a:ext cx="4070342" cy="5985704"/>
          </a:xfrm>
          <a:custGeom>
            <a:avLst/>
            <a:gdLst/>
            <a:ahLst/>
            <a:cxnLst/>
            <a:rect l="l" t="t" r="r" b="b"/>
            <a:pathLst>
              <a:path w="4070342" h="5985704">
                <a:moveTo>
                  <a:pt x="0" y="0"/>
                </a:moveTo>
                <a:lnTo>
                  <a:pt x="4070342" y="0"/>
                </a:lnTo>
                <a:lnTo>
                  <a:pt x="4070342" y="5985704"/>
                </a:lnTo>
                <a:lnTo>
                  <a:pt x="0" y="5985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6941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50132" y="2320596"/>
            <a:ext cx="4734138" cy="5985704"/>
          </a:xfrm>
          <a:custGeom>
            <a:avLst/>
            <a:gdLst/>
            <a:ahLst/>
            <a:cxnLst/>
            <a:rect l="l" t="t" r="r" b="b"/>
            <a:pathLst>
              <a:path w="4734138" h="5985704">
                <a:moveTo>
                  <a:pt x="0" y="0"/>
                </a:moveTo>
                <a:lnTo>
                  <a:pt x="4734138" y="0"/>
                </a:lnTo>
                <a:lnTo>
                  <a:pt x="4734138" y="5985704"/>
                </a:lnTo>
                <a:lnTo>
                  <a:pt x="0" y="5985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429" t="-928" r="-1357"/>
            </a:stretch>
          </a:blipFill>
        </p:spPr>
      </p:sp>
      <p:sp>
        <p:nvSpPr>
          <p:cNvPr id="4" name="Freeform 4"/>
          <p:cNvSpPr/>
          <p:nvPr/>
        </p:nvSpPr>
        <p:spPr>
          <a:xfrm rot="-9438344">
            <a:off x="8411695" y="4594860"/>
            <a:ext cx="3657600" cy="1097280"/>
          </a:xfrm>
          <a:custGeom>
            <a:avLst/>
            <a:gdLst/>
            <a:ahLst/>
            <a:cxnLst/>
            <a:rect l="l" t="t" r="r" b="b"/>
            <a:pathLst>
              <a:path w="3657600" h="1097280">
                <a:moveTo>
                  <a:pt x="0" y="0"/>
                </a:moveTo>
                <a:lnTo>
                  <a:pt x="3657600" y="0"/>
                </a:lnTo>
                <a:lnTo>
                  <a:pt x="365760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9438344">
            <a:off x="5967961" y="8224731"/>
            <a:ext cx="3657600" cy="1097280"/>
          </a:xfrm>
          <a:custGeom>
            <a:avLst/>
            <a:gdLst/>
            <a:ahLst/>
            <a:cxnLst/>
            <a:rect l="l" t="t" r="r" b="b"/>
            <a:pathLst>
              <a:path w="3657600" h="1097280">
                <a:moveTo>
                  <a:pt x="0" y="0"/>
                </a:moveTo>
                <a:lnTo>
                  <a:pt x="3657600" y="0"/>
                </a:lnTo>
                <a:lnTo>
                  <a:pt x="365760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095551">
            <a:off x="2420659" y="8107606"/>
            <a:ext cx="2042329" cy="700394"/>
          </a:xfrm>
          <a:custGeom>
            <a:avLst/>
            <a:gdLst/>
            <a:ahLst/>
            <a:cxnLst/>
            <a:rect l="l" t="t" r="r" b="b"/>
            <a:pathLst>
              <a:path w="2334646" h="700394">
                <a:moveTo>
                  <a:pt x="0" y="0"/>
                </a:moveTo>
                <a:lnTo>
                  <a:pt x="2334646" y="0"/>
                </a:lnTo>
                <a:lnTo>
                  <a:pt x="2334646" y="700394"/>
                </a:lnTo>
                <a:lnTo>
                  <a:pt x="0" y="70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744576">
            <a:off x="1422681" y="2745416"/>
            <a:ext cx="2211747" cy="663524"/>
          </a:xfrm>
          <a:custGeom>
            <a:avLst/>
            <a:gdLst/>
            <a:ahLst/>
            <a:cxnLst/>
            <a:rect l="l" t="t" r="r" b="b"/>
            <a:pathLst>
              <a:path w="2211747" h="663524">
                <a:moveTo>
                  <a:pt x="0" y="0"/>
                </a:moveTo>
                <a:lnTo>
                  <a:pt x="2211747" y="0"/>
                </a:lnTo>
                <a:lnTo>
                  <a:pt x="2211747" y="663524"/>
                </a:lnTo>
                <a:lnTo>
                  <a:pt x="0" y="6635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289192" y="439336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C. Calibrage de la pression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72800" y="5313448"/>
            <a:ext cx="4866878" cy="8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err="1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Emetteur</a:t>
            </a:r>
            <a:r>
              <a:rPr lang="en-US" sz="5000" b="1" dirty="0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TPMS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6952" y="9153525"/>
            <a:ext cx="5134868" cy="8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Recepteur TPMS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5710" y="9333411"/>
            <a:ext cx="7509430" cy="863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Enceinte de Pression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5844" y="1188711"/>
            <a:ext cx="3937000" cy="8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Pompe à air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54808" y="8351558"/>
            <a:ext cx="5887362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17 : Calibrage du FXTH87xD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20649" y="2193057"/>
            <a:ext cx="11446703" cy="5900885"/>
          </a:xfrm>
          <a:custGeom>
            <a:avLst/>
            <a:gdLst/>
            <a:ahLst/>
            <a:cxnLst/>
            <a:rect l="l" t="t" r="r" b="b"/>
            <a:pathLst>
              <a:path w="11446703" h="5900885">
                <a:moveTo>
                  <a:pt x="0" y="0"/>
                </a:moveTo>
                <a:lnTo>
                  <a:pt x="11446702" y="0"/>
                </a:lnTo>
                <a:lnTo>
                  <a:pt x="11446702" y="5900886"/>
                </a:lnTo>
                <a:lnTo>
                  <a:pt x="0" y="5900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98" t="-6131" r="-9022" b="-33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89192" y="93345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C. Calibrage de la pression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37028" y="8209414"/>
            <a:ext cx="10813944" cy="86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18 : Représentation de la droite de la Pression mesurée par le TPMS en fonction de la Pression mesurée par la pompe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3345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0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RESULTATS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19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387732" y="3525062"/>
            <a:ext cx="19071972" cy="3802765"/>
            <a:chOff x="0" y="0"/>
            <a:chExt cx="25429296" cy="5070353"/>
          </a:xfrm>
        </p:grpSpPr>
        <p:sp>
          <p:nvSpPr>
            <p:cNvPr id="5" name="TextBox 5"/>
            <p:cNvSpPr txBox="1"/>
            <p:nvPr/>
          </p:nvSpPr>
          <p:spPr>
            <a:xfrm>
              <a:off x="1887756" y="-95250"/>
              <a:ext cx="21653785" cy="11071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00"/>
                </a:lnSpc>
                <a:spcBef>
                  <a:spcPct val="0"/>
                </a:spcBef>
              </a:pPr>
              <a:r>
                <a:rPr lang="en-US" sz="5000" b="1">
                  <a:solidFill>
                    <a:srgbClr val="000000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Tcorrigé = 0,9987 × Tmes + 0,3762, Tmes ∈ [20 , 60] °C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35371"/>
              <a:ext cx="25429296" cy="11071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00"/>
                </a:lnSpc>
                <a:spcBef>
                  <a:spcPct val="0"/>
                </a:spcBef>
              </a:pPr>
              <a:r>
                <a:rPr lang="en-US" sz="5000" b="1">
                  <a:solidFill>
                    <a:srgbClr val="000000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Pcorrigé = 0,9140 × Pmes + 0,0742, Pmes ∈ [1.0 , 2.5] Bar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25451" y="3963237"/>
              <a:ext cx="21578394" cy="11071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00"/>
                </a:lnSpc>
                <a:spcBef>
                  <a:spcPct val="0"/>
                </a:spcBef>
              </a:pPr>
              <a:r>
                <a:rPr lang="en-US" sz="5000" b="1">
                  <a:solidFill>
                    <a:srgbClr val="000000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arcorrigé = 1,487 × armes − 0,327, armes ∈ [−10, +10] g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6360" y="2408337"/>
            <a:ext cx="7837640" cy="5995795"/>
          </a:xfrm>
          <a:custGeom>
            <a:avLst/>
            <a:gdLst/>
            <a:ahLst/>
            <a:cxnLst/>
            <a:rect l="l" t="t" r="r" b="b"/>
            <a:pathLst>
              <a:path w="7837640" h="5995795">
                <a:moveTo>
                  <a:pt x="0" y="0"/>
                </a:moveTo>
                <a:lnTo>
                  <a:pt x="7837640" y="0"/>
                </a:lnTo>
                <a:lnTo>
                  <a:pt x="7837640" y="5995795"/>
                </a:lnTo>
                <a:lnTo>
                  <a:pt x="0" y="599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50907" y="2053622"/>
            <a:ext cx="5999572" cy="4505607"/>
            <a:chOff x="0" y="0"/>
            <a:chExt cx="7999429" cy="60074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999429" cy="6007477"/>
            </a:xfrm>
            <a:custGeom>
              <a:avLst/>
              <a:gdLst/>
              <a:ahLst/>
              <a:cxnLst/>
              <a:rect l="l" t="t" r="r" b="b"/>
              <a:pathLst>
                <a:path w="7999429" h="6007477">
                  <a:moveTo>
                    <a:pt x="0" y="0"/>
                  </a:moveTo>
                  <a:lnTo>
                    <a:pt x="7999429" y="0"/>
                  </a:lnTo>
                  <a:lnTo>
                    <a:pt x="7999429" y="6007477"/>
                  </a:lnTo>
                  <a:lnTo>
                    <a:pt x="0" y="6007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423" t="-43413" r="-22064" b="-12128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6331630" y="2520964"/>
              <a:ext cx="1428607" cy="2553901"/>
              <a:chOff x="0" y="0"/>
              <a:chExt cx="349708" cy="62516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49708" cy="625169"/>
              </a:xfrm>
              <a:custGeom>
                <a:avLst/>
                <a:gdLst/>
                <a:ahLst/>
                <a:cxnLst/>
                <a:rect l="l" t="t" r="r" b="b"/>
                <a:pathLst>
                  <a:path w="349708" h="625169">
                    <a:moveTo>
                      <a:pt x="0" y="0"/>
                    </a:moveTo>
                    <a:lnTo>
                      <a:pt x="349708" y="0"/>
                    </a:lnTo>
                    <a:lnTo>
                      <a:pt x="349708" y="625169"/>
                    </a:lnTo>
                    <a:lnTo>
                      <a:pt x="0" y="625169"/>
                    </a:lnTo>
                    <a:close/>
                  </a:path>
                </a:pathLst>
              </a:custGeom>
              <a:ln w="57150" cap="sq">
                <a:solidFill>
                  <a:srgbClr val="DB2802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49708" cy="663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5421214" y="5120577"/>
              <a:ext cx="1862875" cy="422296"/>
              <a:chOff x="0" y="0"/>
              <a:chExt cx="456013" cy="10337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56013" cy="103374"/>
              </a:xfrm>
              <a:custGeom>
                <a:avLst/>
                <a:gdLst/>
                <a:ahLst/>
                <a:cxnLst/>
                <a:rect l="l" t="t" r="r" b="b"/>
                <a:pathLst>
                  <a:path w="456013" h="103374">
                    <a:moveTo>
                      <a:pt x="0" y="0"/>
                    </a:moveTo>
                    <a:lnTo>
                      <a:pt x="456013" y="0"/>
                    </a:lnTo>
                    <a:lnTo>
                      <a:pt x="456013" y="103374"/>
                    </a:lnTo>
                    <a:lnTo>
                      <a:pt x="0" y="103374"/>
                    </a:lnTo>
                    <a:close/>
                  </a:path>
                </a:pathLst>
              </a:custGeom>
              <a:ln w="57150" cap="sq">
                <a:solidFill>
                  <a:srgbClr val="E1E6E7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56013" cy="141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9507933" y="7532524"/>
            <a:ext cx="7331976" cy="2150732"/>
            <a:chOff x="0" y="0"/>
            <a:chExt cx="1931055" cy="566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31055" cy="566448"/>
            </a:xfrm>
            <a:custGeom>
              <a:avLst/>
              <a:gdLst/>
              <a:ahLst/>
              <a:cxnLst/>
              <a:rect l="l" t="t" r="r" b="b"/>
              <a:pathLst>
                <a:path w="1931055" h="566448">
                  <a:moveTo>
                    <a:pt x="0" y="0"/>
                  </a:moveTo>
                  <a:lnTo>
                    <a:pt x="1931055" y="0"/>
                  </a:lnTo>
                  <a:lnTo>
                    <a:pt x="1931055" y="566448"/>
                  </a:lnTo>
                  <a:lnTo>
                    <a:pt x="0" y="566448"/>
                  </a:lnTo>
                  <a:close/>
                </a:path>
              </a:pathLst>
            </a:custGeom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931055" cy="614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360" y="7090370"/>
            <a:ext cx="8054668" cy="1774661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764" y="8213158"/>
            <a:ext cx="3445130" cy="1555976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7206" y="8623619"/>
            <a:ext cx="2503988" cy="735052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0" y="933450"/>
            <a:ext cx="18288000" cy="85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D. Mesure de la consommation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09617" y="9607056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20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6360" y="8621482"/>
            <a:ext cx="7837640" cy="86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19 : Mesure du courant consommé du TPMS émetteur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31873" y="6607493"/>
            <a:ext cx="7837640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20 : Courant mesuré sous l’oscilloscope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56945" y="2546228"/>
            <a:ext cx="8181383" cy="6130143"/>
          </a:xfrm>
          <a:custGeom>
            <a:avLst/>
            <a:gdLst/>
            <a:ahLst/>
            <a:cxnLst/>
            <a:rect l="l" t="t" r="r" b="b"/>
            <a:pathLst>
              <a:path w="8181383" h="6130143">
                <a:moveTo>
                  <a:pt x="0" y="0"/>
                </a:moveTo>
                <a:lnTo>
                  <a:pt x="8181383" y="0"/>
                </a:lnTo>
                <a:lnTo>
                  <a:pt x="8181383" y="6130143"/>
                </a:lnTo>
                <a:lnTo>
                  <a:pt x="0" y="6130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13354" y="914400"/>
            <a:ext cx="10661292" cy="10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999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Conclusion et Perspectives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09720" y="9607159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21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01457" y="2546228"/>
            <a:ext cx="5969161" cy="3491403"/>
            <a:chOff x="0" y="0"/>
            <a:chExt cx="1601238" cy="9365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01238" cy="936575"/>
            </a:xfrm>
            <a:custGeom>
              <a:avLst/>
              <a:gdLst/>
              <a:ahLst/>
              <a:cxnLst/>
              <a:rect l="l" t="t" r="r" b="b"/>
              <a:pathLst>
                <a:path w="1601238" h="936575">
                  <a:moveTo>
                    <a:pt x="32425" y="0"/>
                  </a:moveTo>
                  <a:lnTo>
                    <a:pt x="1568814" y="0"/>
                  </a:lnTo>
                  <a:cubicBezTo>
                    <a:pt x="1577413" y="0"/>
                    <a:pt x="1585660" y="3416"/>
                    <a:pt x="1591741" y="9497"/>
                  </a:cubicBezTo>
                  <a:cubicBezTo>
                    <a:pt x="1597822" y="15578"/>
                    <a:pt x="1601238" y="23825"/>
                    <a:pt x="1601238" y="32425"/>
                  </a:cubicBezTo>
                  <a:lnTo>
                    <a:pt x="1601238" y="904150"/>
                  </a:lnTo>
                  <a:cubicBezTo>
                    <a:pt x="1601238" y="912750"/>
                    <a:pt x="1597822" y="920997"/>
                    <a:pt x="1591741" y="927078"/>
                  </a:cubicBezTo>
                  <a:cubicBezTo>
                    <a:pt x="1585660" y="933159"/>
                    <a:pt x="1577413" y="936575"/>
                    <a:pt x="1568814" y="936575"/>
                  </a:cubicBezTo>
                  <a:lnTo>
                    <a:pt x="32425" y="936575"/>
                  </a:lnTo>
                  <a:cubicBezTo>
                    <a:pt x="23825" y="936575"/>
                    <a:pt x="15578" y="933159"/>
                    <a:pt x="9497" y="927078"/>
                  </a:cubicBezTo>
                  <a:cubicBezTo>
                    <a:pt x="3416" y="920997"/>
                    <a:pt x="0" y="912750"/>
                    <a:pt x="0" y="904150"/>
                  </a:cubicBezTo>
                  <a:lnTo>
                    <a:pt x="0" y="32425"/>
                  </a:lnTo>
                  <a:cubicBezTo>
                    <a:pt x="0" y="23825"/>
                    <a:pt x="3416" y="15578"/>
                    <a:pt x="9497" y="9497"/>
                  </a:cubicBezTo>
                  <a:cubicBezTo>
                    <a:pt x="15578" y="3416"/>
                    <a:pt x="23825" y="0"/>
                    <a:pt x="3242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01238" cy="974675"/>
            </a:xfrm>
            <a:prstGeom prst="rect">
              <a:avLst/>
            </a:prstGeom>
          </p:spPr>
          <p:txBody>
            <a:bodyPr lIns="469900" tIns="469900" rIns="469900" bIns="469900" rtlCol="0" anchor="ctr"/>
            <a:lstStyle/>
            <a:p>
              <a:pPr marL="0" lvl="0" indent="0" algn="just">
                <a:lnSpc>
                  <a:spcPts val="415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Utiliser des banc d’essaies plus sophistiquer pour corriger les erreurs déjà recenser et améloirer la calibration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01457" y="6249390"/>
            <a:ext cx="5969161" cy="2443653"/>
            <a:chOff x="0" y="0"/>
            <a:chExt cx="1601238" cy="6555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01238" cy="655514"/>
            </a:xfrm>
            <a:custGeom>
              <a:avLst/>
              <a:gdLst/>
              <a:ahLst/>
              <a:cxnLst/>
              <a:rect l="l" t="t" r="r" b="b"/>
              <a:pathLst>
                <a:path w="1601238" h="655514">
                  <a:moveTo>
                    <a:pt x="32425" y="0"/>
                  </a:moveTo>
                  <a:lnTo>
                    <a:pt x="1568814" y="0"/>
                  </a:lnTo>
                  <a:cubicBezTo>
                    <a:pt x="1577413" y="0"/>
                    <a:pt x="1585660" y="3416"/>
                    <a:pt x="1591741" y="9497"/>
                  </a:cubicBezTo>
                  <a:cubicBezTo>
                    <a:pt x="1597822" y="15578"/>
                    <a:pt x="1601238" y="23825"/>
                    <a:pt x="1601238" y="32425"/>
                  </a:cubicBezTo>
                  <a:lnTo>
                    <a:pt x="1601238" y="623089"/>
                  </a:lnTo>
                  <a:cubicBezTo>
                    <a:pt x="1601238" y="631689"/>
                    <a:pt x="1597822" y="639936"/>
                    <a:pt x="1591741" y="646017"/>
                  </a:cubicBezTo>
                  <a:cubicBezTo>
                    <a:pt x="1585660" y="652098"/>
                    <a:pt x="1577413" y="655514"/>
                    <a:pt x="1568814" y="655514"/>
                  </a:cubicBezTo>
                  <a:lnTo>
                    <a:pt x="32425" y="655514"/>
                  </a:lnTo>
                  <a:cubicBezTo>
                    <a:pt x="23825" y="655514"/>
                    <a:pt x="15578" y="652098"/>
                    <a:pt x="9497" y="646017"/>
                  </a:cubicBezTo>
                  <a:cubicBezTo>
                    <a:pt x="3416" y="639936"/>
                    <a:pt x="0" y="631689"/>
                    <a:pt x="0" y="623089"/>
                  </a:cubicBezTo>
                  <a:lnTo>
                    <a:pt x="0" y="32425"/>
                  </a:lnTo>
                  <a:cubicBezTo>
                    <a:pt x="0" y="23825"/>
                    <a:pt x="3416" y="15578"/>
                    <a:pt x="9497" y="9497"/>
                  </a:cubicBezTo>
                  <a:cubicBezTo>
                    <a:pt x="15578" y="3416"/>
                    <a:pt x="23825" y="0"/>
                    <a:pt x="3242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01238" cy="693614"/>
            </a:xfrm>
            <a:prstGeom prst="rect">
              <a:avLst/>
            </a:prstGeom>
          </p:spPr>
          <p:txBody>
            <a:bodyPr lIns="469900" tIns="469900" rIns="469900" bIns="469900" rtlCol="0" anchor="ctr"/>
            <a:lstStyle/>
            <a:p>
              <a:pPr marL="0" lvl="0" indent="0" algn="just">
                <a:lnSpc>
                  <a:spcPts val="415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Utiliser un filtre de Kalman pour éliminer les Variation minimes lors des mesures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428816" y="8835959"/>
            <a:ext cx="7837640" cy="4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Figure 20 : Banc de test proposé [6]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3354" y="914400"/>
            <a:ext cx="10661292" cy="1019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999" b="1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Références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709720" y="9607159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22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099772"/>
            <a:ext cx="16230600" cy="7158528"/>
            <a:chOff x="0" y="0"/>
            <a:chExt cx="4353888" cy="1920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53887" cy="1920288"/>
            </a:xfrm>
            <a:custGeom>
              <a:avLst/>
              <a:gdLst/>
              <a:ahLst/>
              <a:cxnLst/>
              <a:rect l="l" t="t" r="r" b="b"/>
              <a:pathLst>
                <a:path w="4353887" h="1920288">
                  <a:moveTo>
                    <a:pt x="11925" y="0"/>
                  </a:moveTo>
                  <a:lnTo>
                    <a:pt x="4341962" y="0"/>
                  </a:lnTo>
                  <a:cubicBezTo>
                    <a:pt x="4348549" y="0"/>
                    <a:pt x="4353887" y="5339"/>
                    <a:pt x="4353887" y="11925"/>
                  </a:cubicBezTo>
                  <a:lnTo>
                    <a:pt x="4353887" y="1908363"/>
                  </a:lnTo>
                  <a:cubicBezTo>
                    <a:pt x="4353887" y="1914949"/>
                    <a:pt x="4348549" y="1920288"/>
                    <a:pt x="4341962" y="1920288"/>
                  </a:cubicBezTo>
                  <a:lnTo>
                    <a:pt x="11925" y="1920288"/>
                  </a:lnTo>
                  <a:cubicBezTo>
                    <a:pt x="5339" y="1920288"/>
                    <a:pt x="0" y="1914949"/>
                    <a:pt x="0" y="1908363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353888" cy="1958388"/>
            </a:xfrm>
            <a:prstGeom prst="rect">
              <a:avLst/>
            </a:prstGeom>
          </p:spPr>
          <p:txBody>
            <a:bodyPr lIns="469900" tIns="469900" rIns="469900" bIns="469900" rtlCol="0" anchor="ctr"/>
            <a:lstStyle/>
            <a:p>
              <a:pPr algn="l">
                <a:lnSpc>
                  <a:spcPts val="4159"/>
                </a:lnSpc>
              </a:pPr>
              <a:r>
                <a:rPr lang="en-US" sz="3199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[1.1]https://www.tomorrowstechnician.com/porsche-tech-tip-tpms/</a:t>
              </a:r>
            </a:p>
            <a:p>
              <a:pPr algn="l">
                <a:lnSpc>
                  <a:spcPts val="4159"/>
                </a:lnSpc>
              </a:pPr>
              <a:r>
                <a:rPr lang="en-US" sz="3199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[1.2]https://en.wikipedia.org/wiki/Tire-pressure_monitoring_system</a:t>
              </a:r>
            </a:p>
            <a:p>
              <a:pPr algn="l">
                <a:lnSpc>
                  <a:spcPts val="4159"/>
                </a:lnSpc>
              </a:pPr>
              <a:r>
                <a:rPr lang="en-US" sz="3199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[2] https://www.mynewsdesk.com/se/continental-dack/pressreleases/continental-vdo-utoekar-tpms-sortimentet-1231079</a:t>
              </a:r>
            </a:p>
            <a:p>
              <a:pPr algn="l">
                <a:lnSpc>
                  <a:spcPts val="4159"/>
                </a:lnSpc>
              </a:pPr>
              <a:r>
                <a:rPr lang="en-US" sz="3199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[3] https://www.largus.fr/actualite-automobile/tpms-ou-alerte-de-pression-des-pneus-comment-ca-marche-5316379.html</a:t>
              </a:r>
            </a:p>
            <a:p>
              <a:pPr algn="l">
                <a:lnSpc>
                  <a:spcPts val="4159"/>
                </a:lnSpc>
              </a:pPr>
              <a:r>
                <a:rPr lang="en-US" sz="3199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[4] https://www.TPMS/FXTH87超级用户资料/FXTH87%20官方资料与编译软件-Documentation%20officielle%20et%20logiciel%20de%20compilation%20FXTH87/Datasheet/FXTH870xD.pdf</a:t>
              </a:r>
            </a:p>
            <a:p>
              <a:pPr algn="l">
                <a:lnSpc>
                  <a:spcPts val="4159"/>
                </a:lnSpc>
              </a:pPr>
              <a:r>
                <a:rPr lang="en-US" sz="3199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[5] https://www.Infineon_TDA5235_DS_v01_00_EN-3167461.pdf</a:t>
              </a:r>
            </a:p>
            <a:p>
              <a:pPr marL="0" lvl="0" indent="0" algn="l">
                <a:lnSpc>
                  <a:spcPts val="415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1"/>
                  </a:solidFill>
                  <a:latin typeface="Inter"/>
                  <a:ea typeface="Inter"/>
                  <a:cs typeface="Inter"/>
                  <a:sym typeface="Inter"/>
                </a:rPr>
                <a:t>[6] Article : An Experimental Test Bench for the Tire Pressure Monitoring System – Discussion of Measurement and Communication Issues 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91000" y="-419100"/>
            <a:ext cx="8752072" cy="9884270"/>
          </a:xfrm>
          <a:custGeom>
            <a:avLst/>
            <a:gdLst/>
            <a:ahLst/>
            <a:cxnLst/>
            <a:rect l="l" t="t" r="r" b="b"/>
            <a:pathLst>
              <a:path w="8752072" h="9884270">
                <a:moveTo>
                  <a:pt x="0" y="0"/>
                </a:moveTo>
                <a:lnTo>
                  <a:pt x="8752072" y="0"/>
                </a:lnTo>
                <a:lnTo>
                  <a:pt x="8752072" y="9884270"/>
                </a:lnTo>
                <a:lnTo>
                  <a:pt x="0" y="9884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16290" y="5143500"/>
            <a:ext cx="12102353" cy="8229600"/>
          </a:xfrm>
          <a:custGeom>
            <a:avLst/>
            <a:gdLst/>
            <a:ahLst/>
            <a:cxnLst/>
            <a:rect l="l" t="t" r="r" b="b"/>
            <a:pathLst>
              <a:path w="12102353" h="8229600">
                <a:moveTo>
                  <a:pt x="0" y="0"/>
                </a:moveTo>
                <a:lnTo>
                  <a:pt x="12102353" y="0"/>
                </a:lnTo>
                <a:lnTo>
                  <a:pt x="1210235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709720" y="9632520"/>
            <a:ext cx="152400" cy="2286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574"/>
              </a:lnSpc>
              <a:spcBef>
                <a:spcPct val="0"/>
              </a:spcBef>
            </a:pPr>
            <a:r>
              <a:rPr lang="en-US" sz="3982">
                <a:solidFill>
                  <a:srgbClr val="000001"/>
                </a:solidFill>
                <a:latin typeface="Open Sans 1"/>
                <a:ea typeface="Open Sans 1"/>
                <a:cs typeface="Open Sans 1"/>
                <a:sym typeface="Open Sans 1"/>
              </a:rPr>
              <a:t>23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28239" y="2637669"/>
            <a:ext cx="14231521" cy="473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1"/>
              </a:lnSpc>
            </a:pPr>
            <a:endParaRPr lang="en-US" sz="13672" b="1" dirty="0">
              <a:solidFill>
                <a:srgbClr val="00000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algn="ctr">
              <a:lnSpc>
                <a:spcPts val="19141"/>
              </a:lnSpc>
            </a:pPr>
            <a:endParaRPr lang="en-US" sz="13672" b="1" dirty="0">
              <a:solidFill>
                <a:srgbClr val="00000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FE3DF67-E379-6F4D-C9D1-67908D7284A8}"/>
              </a:ext>
            </a:extLst>
          </p:cNvPr>
          <p:cNvSpPr txBox="1"/>
          <p:nvPr/>
        </p:nvSpPr>
        <p:spPr>
          <a:xfrm>
            <a:off x="1142999" y="2373141"/>
            <a:ext cx="16002000" cy="5268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9141"/>
              </a:lnSpc>
            </a:pPr>
            <a:r>
              <a:rPr lang="en-US" sz="9600" b="1" dirty="0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MERCI DE VOTRE</a:t>
            </a:r>
          </a:p>
          <a:p>
            <a:pPr algn="ctr">
              <a:lnSpc>
                <a:spcPts val="19141"/>
              </a:lnSpc>
            </a:pPr>
            <a:r>
              <a:rPr lang="en-US" sz="9600" b="1" dirty="0">
                <a:solidFill>
                  <a:srgbClr val="00000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ATTENTION</a:t>
            </a:r>
          </a:p>
          <a:p>
            <a:endParaRPr lang="fr-FR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745</Words>
  <Application>Microsoft Office PowerPoint</Application>
  <PresentationFormat>Personnalisé</PresentationFormat>
  <Paragraphs>133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8" baseType="lpstr">
      <vt:lpstr>Anton</vt:lpstr>
      <vt:lpstr>Open Sans 1 Bold</vt:lpstr>
      <vt:lpstr>Open Sans 1</vt:lpstr>
      <vt:lpstr>Inter</vt:lpstr>
      <vt:lpstr>Bogart Bold</vt:lpstr>
      <vt:lpstr>Agrandir Narrow Bold</vt:lpstr>
      <vt:lpstr>Arial</vt:lpstr>
      <vt:lpstr>Open Sans 2</vt:lpstr>
      <vt:lpstr>Bogart</vt:lpstr>
      <vt:lpstr>Calibri</vt:lpstr>
      <vt:lpstr>Inter Medium</vt:lpstr>
      <vt:lpstr>Inter Bold</vt:lpstr>
      <vt:lpstr>League Spartan</vt:lpstr>
      <vt:lpstr>Agrandir Narrow Ultra-Bold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IRP TPMS</dc:title>
  <cp:lastModifiedBy>admin</cp:lastModifiedBy>
  <cp:revision>5</cp:revision>
  <dcterms:created xsi:type="dcterms:W3CDTF">2006-08-16T00:00:00Z</dcterms:created>
  <dcterms:modified xsi:type="dcterms:W3CDTF">2026-04-13T05:30:24Z</dcterms:modified>
  <dc:identifier>DAHF-xDpfis</dc:identifier>
</cp:coreProperties>
</file>